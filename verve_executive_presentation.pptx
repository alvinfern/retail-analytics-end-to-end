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vin Fernandes" userId="1a66d79a62ed17bb" providerId="LiveId" clId="{00B86547-CCAC-4830-9D48-33AE920B6DB8}"/>
    <pc:docChg chg="modSld">
      <pc:chgData name="Alvin Fernandes" userId="1a66d79a62ed17bb" providerId="LiveId" clId="{00B86547-CCAC-4830-9D48-33AE920B6DB8}" dt="2026-08-19T10:28:44.315" v="6" actId="20577"/>
      <pc:docMkLst>
        <pc:docMk/>
      </pc:docMkLst>
      <pc:sldChg chg="modSp mod">
        <pc:chgData name="Alvin Fernandes" userId="1a66d79a62ed17bb" providerId="LiveId" clId="{00B86547-CCAC-4830-9D48-33AE920B6DB8}" dt="2026-08-16T03:20:28.898" v="3" actId="14100"/>
        <pc:sldMkLst>
          <pc:docMk/>
          <pc:sldMk cId="0" sldId="258"/>
        </pc:sldMkLst>
        <pc:spChg chg="mod">
          <ac:chgData name="Alvin Fernandes" userId="1a66d79a62ed17bb" providerId="LiveId" clId="{00B86547-CCAC-4830-9D48-33AE920B6DB8}" dt="2026-08-16T03:20:28.898" v="3" actId="14100"/>
          <ac:spMkLst>
            <pc:docMk/>
            <pc:sldMk cId="0" sldId="258"/>
            <ac:spMk id="33" creationId="{00000000-0000-0000-0000-000000000000}"/>
          </ac:spMkLst>
        </pc:spChg>
        <pc:spChg chg="mod">
          <ac:chgData name="Alvin Fernandes" userId="1a66d79a62ed17bb" providerId="LiveId" clId="{00B86547-CCAC-4830-9D48-33AE920B6DB8}" dt="2026-08-16T03:20:24.246" v="2" actId="14100"/>
          <ac:spMkLst>
            <pc:docMk/>
            <pc:sldMk cId="0" sldId="258"/>
            <ac:spMk id="34" creationId="{00000000-0000-0000-0000-000000000000}"/>
          </ac:spMkLst>
        </pc:spChg>
      </pc:sldChg>
      <pc:sldChg chg="modSp mod">
        <pc:chgData name="Alvin Fernandes" userId="1a66d79a62ed17bb" providerId="LiveId" clId="{00B86547-CCAC-4830-9D48-33AE920B6DB8}" dt="2026-08-19T10:28:44.315" v="6" actId="20577"/>
        <pc:sldMkLst>
          <pc:docMk/>
          <pc:sldMk cId="0" sldId="260"/>
        </pc:sldMkLst>
        <pc:spChg chg="mod">
          <ac:chgData name="Alvin Fernandes" userId="1a66d79a62ed17bb" providerId="LiveId" clId="{00B86547-CCAC-4830-9D48-33AE920B6DB8}" dt="2026-08-19T10:28:25.734" v="4" actId="14100"/>
          <ac:spMkLst>
            <pc:docMk/>
            <pc:sldMk cId="0" sldId="260"/>
            <ac:spMk id="5" creationId="{00000000-0000-0000-0000-000000000000}"/>
          </ac:spMkLst>
        </pc:spChg>
        <pc:spChg chg="mod">
          <ac:chgData name="Alvin Fernandes" userId="1a66d79a62ed17bb" providerId="LiveId" clId="{00B86547-CCAC-4830-9D48-33AE920B6DB8}" dt="2026-08-19T10:28:44.315" v="6" actId="20577"/>
          <ac:spMkLst>
            <pc:docMk/>
            <pc:sldMk cId="0" sldId="260"/>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Revenue</c:v>
                </c:pt>
              </c:strCache>
            </c:strRef>
          </c:tx>
          <c:spPr>
            <a:solidFill>
              <a:srgbClr val="475569"/>
            </a:solidFill>
            <a:effectLst/>
          </c:spPr>
          <c:invertIfNegative val="0"/>
          <c:dPt>
            <c:idx val="0"/>
            <c:invertIfNegative val="0"/>
            <c:bubble3D val="0"/>
            <c:extLst>
              <c:ext xmlns:c16="http://schemas.microsoft.com/office/drawing/2014/chart" uri="{C3380CC4-5D6E-409C-BE32-E72D297353CC}">
                <c16:uniqueId val="{00000001-F4C9-4E14-90AA-525743F0D120}"/>
              </c:ext>
            </c:extLst>
          </c:dPt>
          <c:dPt>
            <c:idx val="1"/>
            <c:invertIfNegative val="0"/>
            <c:bubble3D val="0"/>
            <c:spPr>
              <a:solidFill>
                <a:srgbClr val="0D9488"/>
              </a:solidFill>
              <a:effectLst/>
            </c:spPr>
            <c:extLst>
              <c:ext xmlns:c16="http://schemas.microsoft.com/office/drawing/2014/chart" uri="{C3380CC4-5D6E-409C-BE32-E72D297353CC}">
                <c16:uniqueId val="{00000003-F4C9-4E14-90AA-525743F0D120}"/>
              </c:ext>
            </c:extLst>
          </c:dPt>
          <c:dPt>
            <c:idx val="2"/>
            <c:invertIfNegative val="0"/>
            <c:bubble3D val="0"/>
            <c:spPr>
              <a:solidFill>
                <a:srgbClr val="D97706"/>
              </a:solidFill>
              <a:effectLst/>
            </c:spPr>
            <c:extLst>
              <c:ext xmlns:c16="http://schemas.microsoft.com/office/drawing/2014/chart" uri="{C3380CC4-5D6E-409C-BE32-E72D297353CC}">
                <c16:uniqueId val="{00000005-F4C9-4E14-90AA-525743F0D120}"/>
              </c:ext>
            </c:extLst>
          </c:dPt>
          <c:dLbls>
            <c:numFmt formatCode="#,##0" sourceLinked="0"/>
            <c:spPr>
              <a:noFill/>
              <a:ln>
                <a:noFill/>
              </a:ln>
              <a:effectLst/>
            </c:spPr>
            <c:txPr>
              <a:bodyPr/>
              <a:lstStyle/>
              <a:p>
                <a:pPr>
                  <a:defRPr sz="1100" b="1" i="0" u="none" strike="noStrike">
                    <a:solidFill>
                      <a:srgbClr val="0A25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548000</c:v>
                </c:pt>
                <c:pt idx="1">
                  <c:v>624000</c:v>
                </c:pt>
                <c:pt idx="2">
                  <c:v>589000</c:v>
                </c:pt>
              </c:numCache>
            </c:numRef>
          </c:val>
          <c:extLst>
            <c:ext xmlns:c16="http://schemas.microsoft.com/office/drawing/2014/chart" uri="{C3380CC4-5D6E-409C-BE32-E72D297353CC}">
              <c16:uniqueId val="{00000006-F4C9-4E14-90AA-525743F0D12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1" i="0" u="none" strike="noStrike">
                <a:solidFill>
                  <a:srgbClr val="0A2540"/>
                </a:solidFill>
                <a:latin typeface="Arial"/>
              </a:defRPr>
            </a:pPr>
            <a:r>
              <a:rPr lang="en-US" sz="1100" b="1" i="0" u="none" strike="noStrike">
                <a:solidFill>
                  <a:srgbClr val="0A2540"/>
                </a:solidFill>
                <a:latin typeface="Arial"/>
              </a:rPr>
              <a:t>Return Reasons (% of all returns)</a:t>
            </a:r>
          </a:p>
        </c:rich>
      </c:tx>
      <c:overlay val="0"/>
    </c:title>
    <c:autoTitleDeleted val="0"/>
    <c:plotArea>
      <c:layout/>
      <c:barChart>
        <c:barDir val="bar"/>
        <c:grouping val="clustered"/>
        <c:varyColors val="0"/>
        <c:ser>
          <c:idx val="0"/>
          <c:order val="0"/>
          <c:tx>
            <c:strRef>
              <c:f>Sheet1!$B$1</c:f>
              <c:strCache>
                <c:ptCount val="1"/>
                <c:pt idx="0">
                  <c:v>% of Returns</c:v>
                </c:pt>
              </c:strCache>
            </c:strRef>
          </c:tx>
          <c:spPr>
            <a:solidFill>
              <a:srgbClr val="DC2626"/>
            </a:solidFill>
            <a:effectLst/>
          </c:spPr>
          <c:invertIfNegative val="0"/>
          <c:dPt>
            <c:idx val="0"/>
            <c:invertIfNegative val="0"/>
            <c:bubble3D val="0"/>
            <c:extLst>
              <c:ext xmlns:c16="http://schemas.microsoft.com/office/drawing/2014/chart" uri="{C3380CC4-5D6E-409C-BE32-E72D297353CC}">
                <c16:uniqueId val="{00000001-AC65-42B1-BADB-485528C740FD}"/>
              </c:ext>
            </c:extLst>
          </c:dPt>
          <c:dPt>
            <c:idx val="1"/>
            <c:invertIfNegative val="0"/>
            <c:bubble3D val="0"/>
            <c:extLst>
              <c:ext xmlns:c16="http://schemas.microsoft.com/office/drawing/2014/chart" uri="{C3380CC4-5D6E-409C-BE32-E72D297353CC}">
                <c16:uniqueId val="{00000003-AC65-42B1-BADB-485528C740FD}"/>
              </c:ext>
            </c:extLst>
          </c:dPt>
          <c:dPt>
            <c:idx val="2"/>
            <c:invertIfNegative val="0"/>
            <c:bubble3D val="0"/>
            <c:spPr>
              <a:solidFill>
                <a:srgbClr val="D97706"/>
              </a:solidFill>
              <a:effectLst/>
            </c:spPr>
            <c:extLst>
              <c:ext xmlns:c16="http://schemas.microsoft.com/office/drawing/2014/chart" uri="{C3380CC4-5D6E-409C-BE32-E72D297353CC}">
                <c16:uniqueId val="{00000005-AC65-42B1-BADB-485528C740FD}"/>
              </c:ext>
            </c:extLst>
          </c:dPt>
          <c:dPt>
            <c:idx val="3"/>
            <c:invertIfNegative val="0"/>
            <c:bubble3D val="0"/>
            <c:spPr>
              <a:solidFill>
                <a:srgbClr val="D97706"/>
              </a:solidFill>
              <a:effectLst/>
            </c:spPr>
            <c:extLst>
              <c:ext xmlns:c16="http://schemas.microsoft.com/office/drawing/2014/chart" uri="{C3380CC4-5D6E-409C-BE32-E72D297353CC}">
                <c16:uniqueId val="{00000007-AC65-42B1-BADB-485528C740FD}"/>
              </c:ext>
            </c:extLst>
          </c:dPt>
          <c:dPt>
            <c:idx val="4"/>
            <c:invertIfNegative val="0"/>
            <c:bubble3D val="0"/>
            <c:spPr>
              <a:solidFill>
                <a:srgbClr val="D97706"/>
              </a:solidFill>
              <a:effectLst/>
            </c:spPr>
            <c:extLst>
              <c:ext xmlns:c16="http://schemas.microsoft.com/office/drawing/2014/chart" uri="{C3380CC4-5D6E-409C-BE32-E72D297353CC}">
                <c16:uniqueId val="{00000009-AC65-42B1-BADB-485528C740FD}"/>
              </c:ext>
            </c:extLst>
          </c:dPt>
          <c:dPt>
            <c:idx val="5"/>
            <c:invertIfNegative val="0"/>
            <c:bubble3D val="0"/>
            <c:spPr>
              <a:solidFill>
                <a:srgbClr val="D97706"/>
              </a:solidFill>
              <a:effectLst/>
            </c:spPr>
            <c:extLst>
              <c:ext xmlns:c16="http://schemas.microsoft.com/office/drawing/2014/chart" uri="{C3380CC4-5D6E-409C-BE32-E72D297353CC}">
                <c16:uniqueId val="{0000000B-AC65-42B1-BADB-485528C740FD}"/>
              </c:ext>
            </c:extLst>
          </c:dPt>
          <c:dPt>
            <c:idx val="6"/>
            <c:invertIfNegative val="0"/>
            <c:bubble3D val="0"/>
            <c:spPr>
              <a:solidFill>
                <a:srgbClr val="D97706"/>
              </a:solidFill>
              <a:effectLst/>
            </c:spPr>
            <c:extLst>
              <c:ext xmlns:c16="http://schemas.microsoft.com/office/drawing/2014/chart" uri="{C3380CC4-5D6E-409C-BE32-E72D297353CC}">
                <c16:uniqueId val="{0000000D-AC65-42B1-BADB-485528C740FD}"/>
              </c:ext>
            </c:extLst>
          </c:dPt>
          <c:dPt>
            <c:idx val="7"/>
            <c:invertIfNegative val="0"/>
            <c:bubble3D val="0"/>
            <c:spPr>
              <a:solidFill>
                <a:srgbClr val="475569"/>
              </a:solidFill>
              <a:effectLst/>
            </c:spPr>
            <c:extLst>
              <c:ext xmlns:c16="http://schemas.microsoft.com/office/drawing/2014/chart" uri="{C3380CC4-5D6E-409C-BE32-E72D297353CC}">
                <c16:uniqueId val="{0000000F-AC65-42B1-BADB-485528C740FD}"/>
              </c:ext>
            </c:extLst>
          </c:dPt>
          <c:dPt>
            <c:idx val="8"/>
            <c:invertIfNegative val="0"/>
            <c:bubble3D val="0"/>
            <c:spPr>
              <a:solidFill>
                <a:srgbClr val="475569"/>
              </a:solidFill>
              <a:effectLst/>
            </c:spPr>
            <c:extLst>
              <c:ext xmlns:c16="http://schemas.microsoft.com/office/drawing/2014/chart" uri="{C3380CC4-5D6E-409C-BE32-E72D297353CC}">
                <c16:uniqueId val="{00000011-AC65-42B1-BADB-485528C740FD}"/>
              </c:ext>
            </c:extLst>
          </c:dPt>
          <c:dLbls>
            <c:numFmt formatCode="#,##0" sourceLinked="0"/>
            <c:spPr>
              <a:noFill/>
              <a:ln>
                <a:noFill/>
              </a:ln>
              <a:effectLst/>
            </c:spPr>
            <c:txPr>
              <a:bodyPr/>
              <a:lstStyle/>
              <a:p>
                <a:pPr>
                  <a:defRPr sz="900" b="0" i="0" u="none" strike="noStrike">
                    <a:solidFill>
                      <a:srgbClr val="0A25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Damaged Shipping</c:v>
                </c:pt>
                <c:pt idx="1">
                  <c:v>Wrong Item</c:v>
                </c:pt>
                <c:pt idx="2">
                  <c:v>Unknown</c:v>
                </c:pt>
                <c:pt idx="3">
                  <c:v>Size/Fit</c:v>
                </c:pt>
                <c:pt idx="4">
                  <c:v>Duplicate Order</c:v>
                </c:pt>
                <c:pt idx="5">
                  <c:v>Defective</c:v>
                </c:pt>
                <c:pt idx="6">
                  <c:v>Better Price</c:v>
                </c:pt>
                <c:pt idx="7">
                  <c:v>Changed Mind</c:v>
                </c:pt>
                <c:pt idx="8">
                  <c:v>Not as Described</c:v>
                </c:pt>
              </c:strCache>
            </c:strRef>
          </c:cat>
          <c:val>
            <c:numRef>
              <c:f>Sheet1!$B$2:$B$10</c:f>
              <c:numCache>
                <c:formatCode>General</c:formatCode>
                <c:ptCount val="9"/>
                <c:pt idx="0">
                  <c:v>14</c:v>
                </c:pt>
                <c:pt idx="1">
                  <c:v>12</c:v>
                </c:pt>
                <c:pt idx="2">
                  <c:v>12</c:v>
                </c:pt>
                <c:pt idx="3">
                  <c:v>11</c:v>
                </c:pt>
                <c:pt idx="4">
                  <c:v>11</c:v>
                </c:pt>
                <c:pt idx="5">
                  <c:v>11</c:v>
                </c:pt>
                <c:pt idx="6">
                  <c:v>11</c:v>
                </c:pt>
                <c:pt idx="7">
                  <c:v>10</c:v>
                </c:pt>
                <c:pt idx="8">
                  <c:v>9</c:v>
                </c:pt>
              </c:numCache>
            </c:numRef>
          </c:val>
          <c:extLst>
            <c:ext xmlns:c16="http://schemas.microsoft.com/office/drawing/2014/chart" uri="{C3380CC4-5D6E-409C-BE32-E72D297353CC}">
              <c16:uniqueId val="{00000012-AC65-42B1-BADB-485528C740F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extLst>
              <c:ext xmlns:c16="http://schemas.microsoft.com/office/drawing/2014/chart" uri="{C3380CC4-5D6E-409C-BE32-E72D297353CC}">
                <c16:uniqueId val="{00000001-044D-4D17-A505-D62917932153}"/>
              </c:ext>
            </c:extLst>
          </c:dPt>
          <c:dPt>
            <c:idx val="1"/>
            <c:bubble3D val="0"/>
            <c:spPr>
              <a:solidFill>
                <a:srgbClr val="0D9488"/>
              </a:solidFill>
              <a:effectLst/>
            </c:spPr>
            <c:extLst>
              <c:ext xmlns:c16="http://schemas.microsoft.com/office/drawing/2014/chart" uri="{C3380CC4-5D6E-409C-BE32-E72D297353CC}">
                <c16:uniqueId val="{00000003-044D-4D17-A505-D62917932153}"/>
              </c:ext>
            </c:extLst>
          </c:dPt>
          <c:dPt>
            <c:idx val="2"/>
            <c:bubble3D val="0"/>
            <c:spPr>
              <a:solidFill>
                <a:srgbClr val="64748B"/>
              </a:solidFill>
              <a:effectLst/>
            </c:spPr>
            <c:extLst>
              <c:ext xmlns:c16="http://schemas.microsoft.com/office/drawing/2014/chart" uri="{C3380CC4-5D6E-409C-BE32-E72D297353CC}">
                <c16:uniqueId val="{00000005-044D-4D17-A505-D62917932153}"/>
              </c:ext>
            </c:extLst>
          </c:dPt>
          <c:dPt>
            <c:idx val="3"/>
            <c:bubble3D val="0"/>
            <c:spPr>
              <a:solidFill>
                <a:srgbClr val="D97706"/>
              </a:solidFill>
              <a:effectLst/>
            </c:spPr>
            <c:extLst>
              <c:ext xmlns:c16="http://schemas.microsoft.com/office/drawing/2014/chart" uri="{C3380CC4-5D6E-409C-BE32-E72D297353CC}">
                <c16:uniqueId val="{00000007-044D-4D17-A505-D62917932153}"/>
              </c:ext>
            </c:extLst>
          </c:dPt>
          <c:dPt>
            <c:idx val="4"/>
            <c:bubble3D val="0"/>
            <c:spPr>
              <a:solidFill>
                <a:srgbClr val="CBD5E1"/>
              </a:solidFill>
              <a:effectLst/>
            </c:spPr>
            <c:extLst>
              <c:ext xmlns:c16="http://schemas.microsoft.com/office/drawing/2014/chart" uri="{C3380CC4-5D6E-409C-BE32-E72D297353CC}">
                <c16:uniqueId val="{00000009-044D-4D17-A505-D62917932153}"/>
              </c:ext>
            </c:extLst>
          </c:dPt>
          <c:dLbls>
            <c:dLbl>
              <c:idx val="0"/>
              <c:numFmt formatCode="0%" sourceLinked="0"/>
              <c:spPr/>
              <c:txPr>
                <a:bodyPr/>
                <a:lstStyle/>
                <a:p>
                  <a:pPr>
                    <a:defRPr sz="1100" b="1"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44D-4D17-A505-D62917932153}"/>
                </c:ext>
              </c:extLst>
            </c:dLbl>
            <c:dLbl>
              <c:idx val="1"/>
              <c:numFmt formatCode="0%" sourceLinked="0"/>
              <c:spPr/>
              <c:txPr>
                <a:bodyPr/>
                <a:lstStyle/>
                <a:p>
                  <a:pPr>
                    <a:defRPr sz="1100" b="1"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44D-4D17-A505-D62917932153}"/>
                </c:ext>
              </c:extLst>
            </c:dLbl>
            <c:dLbl>
              <c:idx val="2"/>
              <c:numFmt formatCode="0%" sourceLinked="0"/>
              <c:spPr/>
              <c:txPr>
                <a:bodyPr/>
                <a:lstStyle/>
                <a:p>
                  <a:pPr>
                    <a:defRPr sz="1100" b="1"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44D-4D17-A505-D62917932153}"/>
                </c:ext>
              </c:extLst>
            </c:dLbl>
            <c:dLbl>
              <c:idx val="3"/>
              <c:numFmt formatCode="0%" sourceLinked="0"/>
              <c:spPr/>
              <c:txPr>
                <a:bodyPr/>
                <a:lstStyle/>
                <a:p>
                  <a:pPr>
                    <a:defRPr sz="1100" b="1"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044D-4D17-A505-D62917932153}"/>
                </c:ext>
              </c:extLst>
            </c:dLbl>
            <c:dLbl>
              <c:idx val="4"/>
              <c:numFmt formatCode="0%" sourceLinked="0"/>
              <c:spPr/>
              <c:txPr>
                <a:bodyPr/>
                <a:lstStyle/>
                <a:p>
                  <a:pPr>
                    <a:defRPr sz="1100" b="1"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044D-4D17-A505-D62917932153}"/>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Regular</c:v>
                </c:pt>
                <c:pt idx="1">
                  <c:v>Occasional</c:v>
                </c:pt>
                <c:pt idx="2">
                  <c:v>New</c:v>
                </c:pt>
                <c:pt idx="3">
                  <c:v>Premium</c:v>
                </c:pt>
                <c:pt idx="4">
                  <c:v>Unknown</c:v>
                </c:pt>
              </c:strCache>
            </c:strRef>
          </c:cat>
          <c:val>
            <c:numRef>
              <c:f>Sheet1!$B$2:$B$6</c:f>
              <c:numCache>
                <c:formatCode>General</c:formatCode>
                <c:ptCount val="5"/>
                <c:pt idx="0">
                  <c:v>206</c:v>
                </c:pt>
                <c:pt idx="1">
                  <c:v>127</c:v>
                </c:pt>
                <c:pt idx="2">
                  <c:v>78</c:v>
                </c:pt>
                <c:pt idx="3">
                  <c:v>61</c:v>
                </c:pt>
                <c:pt idx="4">
                  <c:v>27</c:v>
                </c:pt>
              </c:numCache>
            </c:numRef>
          </c:val>
          <c:extLst>
            <c:ext xmlns:c16="http://schemas.microsoft.com/office/drawing/2014/chart" uri="{C3380CC4-5D6E-409C-BE32-E72D297353CC}">
              <c16:uniqueId val="{0000000A-044D-4D17-A505-D62917932153}"/>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Inactive</c:v>
                </c:pt>
              </c:strCache>
            </c:strRef>
          </c:tx>
          <c:spPr>
            <a:solidFill>
              <a:srgbClr val="DC2626"/>
            </a:solidFill>
            <a:effectLst/>
          </c:spPr>
          <c:invertIfNegative val="0"/>
          <c:dPt>
            <c:idx val="0"/>
            <c:invertIfNegative val="0"/>
            <c:bubble3D val="0"/>
            <c:extLst>
              <c:ext xmlns:c16="http://schemas.microsoft.com/office/drawing/2014/chart" uri="{C3380CC4-5D6E-409C-BE32-E72D297353CC}">
                <c16:uniqueId val="{00000001-2A0B-4B23-8D15-8CFE1E418ABE}"/>
              </c:ext>
            </c:extLst>
          </c:dPt>
          <c:dPt>
            <c:idx val="1"/>
            <c:invertIfNegative val="0"/>
            <c:bubble3D val="0"/>
            <c:spPr>
              <a:solidFill>
                <a:srgbClr val="D97706"/>
              </a:solidFill>
              <a:effectLst/>
            </c:spPr>
            <c:extLst>
              <c:ext xmlns:c16="http://schemas.microsoft.com/office/drawing/2014/chart" uri="{C3380CC4-5D6E-409C-BE32-E72D297353CC}">
                <c16:uniqueId val="{00000003-2A0B-4B23-8D15-8CFE1E418ABE}"/>
              </c:ext>
            </c:extLst>
          </c:dPt>
          <c:dPt>
            <c:idx val="2"/>
            <c:invertIfNegative val="0"/>
            <c:bubble3D val="0"/>
            <c:spPr>
              <a:solidFill>
                <a:srgbClr val="D97706"/>
              </a:solidFill>
              <a:effectLst/>
            </c:spPr>
            <c:extLst>
              <c:ext xmlns:c16="http://schemas.microsoft.com/office/drawing/2014/chart" uri="{C3380CC4-5D6E-409C-BE32-E72D297353CC}">
                <c16:uniqueId val="{00000005-2A0B-4B23-8D15-8CFE1E418ABE}"/>
              </c:ext>
            </c:extLst>
          </c:dPt>
          <c:dPt>
            <c:idx val="3"/>
            <c:invertIfNegative val="0"/>
            <c:bubble3D val="0"/>
            <c:spPr>
              <a:solidFill>
                <a:srgbClr val="D97706"/>
              </a:solidFill>
              <a:effectLst/>
            </c:spPr>
            <c:extLst>
              <c:ext xmlns:c16="http://schemas.microsoft.com/office/drawing/2014/chart" uri="{C3380CC4-5D6E-409C-BE32-E72D297353CC}">
                <c16:uniqueId val="{00000007-2A0B-4B23-8D15-8CFE1E418ABE}"/>
              </c:ext>
            </c:extLst>
          </c:dPt>
          <c:dLbls>
            <c:numFmt formatCode="#,##0" sourceLinked="0"/>
            <c:spPr>
              <a:noFill/>
              <a:ln>
                <a:noFill/>
              </a:ln>
              <a:effectLst/>
            </c:spPr>
            <c:txPr>
              <a:bodyPr/>
              <a:lstStyle/>
              <a:p>
                <a:pPr>
                  <a:defRPr sz="1000" b="0" i="0" u="none" strike="noStrike">
                    <a:solidFill>
                      <a:srgbClr val="0A25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New Customers</c:v>
                </c:pt>
                <c:pt idx="1">
                  <c:v>Regular Customers</c:v>
                </c:pt>
                <c:pt idx="2">
                  <c:v>Premium Customers</c:v>
                </c:pt>
                <c:pt idx="3">
                  <c:v>Occasional Customers</c:v>
                </c:pt>
              </c:strCache>
            </c:strRef>
          </c:cat>
          <c:val>
            <c:numRef>
              <c:f>Sheet1!$B$2:$B$5</c:f>
              <c:numCache>
                <c:formatCode>General</c:formatCode>
                <c:ptCount val="4"/>
                <c:pt idx="0">
                  <c:v>28</c:v>
                </c:pt>
                <c:pt idx="1">
                  <c:v>26</c:v>
                </c:pt>
                <c:pt idx="2">
                  <c:v>25</c:v>
                </c:pt>
                <c:pt idx="3">
                  <c:v>25</c:v>
                </c:pt>
              </c:numCache>
            </c:numRef>
          </c:val>
          <c:extLst>
            <c:ext xmlns:c16="http://schemas.microsoft.com/office/drawing/2014/chart" uri="{C3380CC4-5D6E-409C-BE32-E72D297353CC}">
              <c16:uniqueId val="{00000008-2A0B-4B23-8D15-8CFE1E418AB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35"/>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2265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Verve Retail's 2022–2024 analytics review. This presentation covers findings across three business problems and delivers specific recommendations for the 2025 planning cycle.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problems were identified by Verve leadership before the analysis began. Each one has a direct impact on the 2025 expansion decision.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numbers for the entire Verve network across 3 years. Key concern: $385K in refund losses against $1.76M revenue means roughly 22% of potential revenue was impacted by returns.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revenue bar chart shows three years. 2022: $548K baseline. 2023: $624K — a 13.9% increase. 2024: $589K — a 5.6% decline. Profit margin stays consistently at 74-75% which means the issue is revenue volume, not cost structure.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18.1% return rate has remained stubbornly persistent. Damaged during shipping is #1 at 14% but all other reasons cluster between 9-12%, meaning there is no single fix — Verve needs improvements across multiple operational areas simultaneously.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Electronics is the most impacted category — $164K in refunds from $715K net revenue means 18.7% of potential revenue is lost. Flagship stores have the lowest return rate at 16%, which should be used as the benchmark to improve other store types.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performance was measured by profit quartile to keep thresholds data-driven. The online store finding is critical — it's the only channel growing, which means the 2025 expansion of 3 physical stores needs a strong market rationale.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severe overstock across the network is partly a dataset limitation (single inventory snapshot), but the reorder risk and stockout findings are actionable and real. Denver Mile High has the highest reorder risk with 7 products below threshold — a single-store outlier that signals a local procurement failure.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CLV/AOV analysis reveals a counterintuitive finding: New customers have higher AOV than Regular customers, meaning first-time buyers are more willing to spend than established buyers. This makes retention of new customers critical before their spending declines.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 Loyal Customers' stat is the most powerful number in the deck for leadership. It shows that despite having 197 Potential Loyalists, the customer journey is failing to convert them. This is the strongest case for the loyalty programme relaunch.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items are Immediate (before Q1 2025 ends), Amber are Q1-Q2 2025 priorities, Teal is ongoing. The top 4 are the most impactful — together they address the return rate, the loyalty gap, the untracked return data, and the most urgent inventory risk.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message that 2023 showed Verve can perform when things go right. The 2025 agenda is about removing the operational barriers — returns, inventory risk, and retention — that are preventing that performance from sustaining.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Q&amp;A slide. Key questions to anticipate: Why are we opening 3 new stores if physical revenue is declining? (Answer: the expansion should be paused or reviewed pending the store performance findings.) What's the ROI of a loyalty programme? (Answer: converting 197 Potential Loyalists would significantly grow the Loyal Customer base which has the highest long-term value.)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65A82"/>
          </a:solidFill>
          <a:ln w="12700">
            <a:solidFill>
              <a:srgbClr val="065A82"/>
            </a:solidFill>
            <a:prstDash val="solid"/>
          </a:ln>
        </p:spPr>
        <p:txBody>
          <a:bodyPr/>
          <a:lstStyle/>
          <a:p>
            <a:endParaRPr lang="en-AE"/>
          </a:p>
        </p:txBody>
      </p:sp>
      <p:sp>
        <p:nvSpPr>
          <p:cNvPr id="3" name="Shape 1"/>
          <p:cNvSpPr/>
          <p:nvPr/>
        </p:nvSpPr>
        <p:spPr>
          <a:xfrm>
            <a:off x="3474720" y="0"/>
            <a:ext cx="45720" cy="5143500"/>
          </a:xfrm>
          <a:prstGeom prst="rect">
            <a:avLst/>
          </a:prstGeom>
          <a:solidFill>
            <a:srgbClr val="0D9488"/>
          </a:solidFill>
          <a:ln w="12700">
            <a:solidFill>
              <a:srgbClr val="0D9488"/>
            </a:solidFill>
            <a:prstDash val="solid"/>
          </a:ln>
        </p:spPr>
        <p:txBody>
          <a:bodyPr/>
          <a:lstStyle/>
          <a:p>
            <a:endParaRPr lang="en-AE"/>
          </a:p>
        </p:txBody>
      </p:sp>
      <p:sp>
        <p:nvSpPr>
          <p:cNvPr id="4" name="Text 2"/>
          <p:cNvSpPr/>
          <p:nvPr/>
        </p:nvSpPr>
        <p:spPr>
          <a:xfrm>
            <a:off x="274320" y="731520"/>
            <a:ext cx="2926080" cy="128016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VERVE</a:t>
            </a:r>
            <a:endParaRPr lang="en-US" sz="3000" dirty="0"/>
          </a:p>
          <a:p>
            <a:pPr marL="0" indent="0" algn="l">
              <a:buNone/>
            </a:pPr>
            <a:r>
              <a:rPr lang="en-US" sz="3000" b="1" dirty="0">
                <a:solidFill>
                  <a:srgbClr val="FFFFFF"/>
                </a:solidFill>
                <a:latin typeface="Cambria" pitchFamily="34" charset="0"/>
                <a:ea typeface="Cambria" pitchFamily="34" charset="-122"/>
                <a:cs typeface="Cambria" pitchFamily="34" charset="-120"/>
              </a:rPr>
              <a:t>RETAIL CO.</a:t>
            </a:r>
            <a:endParaRPr lang="en-US" sz="3000" dirty="0"/>
          </a:p>
        </p:txBody>
      </p:sp>
      <p:sp>
        <p:nvSpPr>
          <p:cNvPr id="5" name="Text 3"/>
          <p:cNvSpPr/>
          <p:nvPr/>
        </p:nvSpPr>
        <p:spPr>
          <a:xfrm>
            <a:off x="274320" y="2148840"/>
            <a:ext cx="3017520" cy="914400"/>
          </a:xfrm>
          <a:prstGeom prst="rect">
            <a:avLst/>
          </a:prstGeom>
          <a:noFill/>
          <a:ln/>
        </p:spPr>
        <p:txBody>
          <a:bodyPr wrap="square" lIns="0" tIns="0" rIns="0" bIns="0" rtlCol="0" anchor="ctr"/>
          <a:lstStyle/>
          <a:p>
            <a:pPr marL="0" indent="0" algn="l">
              <a:buNone/>
            </a:pPr>
            <a:r>
              <a:rPr lang="en-US" sz="1400" dirty="0">
                <a:solidFill>
                  <a:srgbClr val="CADCFC"/>
                </a:solidFill>
                <a:latin typeface="Arial" pitchFamily="34" charset="0"/>
                <a:ea typeface="Arial" pitchFamily="34" charset="-122"/>
                <a:cs typeface="Arial" pitchFamily="34" charset="-120"/>
              </a:rPr>
              <a:t>ANALYTICS REVIEW</a:t>
            </a:r>
            <a:endParaRPr lang="en-US" sz="1400" dirty="0"/>
          </a:p>
          <a:p>
            <a:pPr marL="0" indent="0" algn="l">
              <a:buNone/>
            </a:pPr>
            <a:r>
              <a:rPr lang="en-US" sz="1400" dirty="0">
                <a:solidFill>
                  <a:srgbClr val="CADCFC"/>
                </a:solidFill>
                <a:latin typeface="Arial" pitchFamily="34" charset="0"/>
                <a:ea typeface="Arial" pitchFamily="34" charset="-122"/>
                <a:cs typeface="Arial" pitchFamily="34" charset="-120"/>
              </a:rPr>
              <a:t>2022–2024</a:t>
            </a:r>
            <a:endParaRPr lang="en-US" sz="1400" dirty="0"/>
          </a:p>
        </p:txBody>
      </p:sp>
      <p:sp>
        <p:nvSpPr>
          <p:cNvPr id="6" name="Text 4"/>
          <p:cNvSpPr/>
          <p:nvPr/>
        </p:nvSpPr>
        <p:spPr>
          <a:xfrm>
            <a:off x="274320" y="3200400"/>
            <a:ext cx="2926080" cy="822960"/>
          </a:xfrm>
          <a:prstGeom prst="rect">
            <a:avLst/>
          </a:prstGeom>
          <a:noFill/>
          <a:ln/>
        </p:spPr>
        <p:txBody>
          <a:bodyPr wrap="square" lIns="0" tIns="0" rIns="0" bIns="0" rtlCol="0" anchor="ctr"/>
          <a:lstStyle/>
          <a:p>
            <a:pPr marL="0" indent="0" algn="l">
              <a:buNone/>
            </a:pPr>
            <a:r>
              <a:rPr lang="en-US" sz="1100" dirty="0">
                <a:solidFill>
                  <a:srgbClr val="7FB3D3"/>
                </a:solidFill>
              </a:rPr>
              <a:t>Performance Review &amp;</a:t>
            </a:r>
            <a:endParaRPr lang="en-US" sz="1100" dirty="0"/>
          </a:p>
          <a:p>
            <a:pPr marL="0" indent="0" algn="l">
              <a:buNone/>
            </a:pPr>
            <a:r>
              <a:rPr lang="en-US" sz="1100" dirty="0">
                <a:solidFill>
                  <a:srgbClr val="7FB3D3"/>
                </a:solidFill>
              </a:rPr>
              <a:t>Strategic Recommendations</a:t>
            </a:r>
            <a:endParaRPr lang="en-US" sz="1100" dirty="0"/>
          </a:p>
        </p:txBody>
      </p:sp>
      <p:sp>
        <p:nvSpPr>
          <p:cNvPr id="7" name="Text 5"/>
          <p:cNvSpPr/>
          <p:nvPr/>
        </p:nvSpPr>
        <p:spPr>
          <a:xfrm>
            <a:off x="274320" y="4389120"/>
            <a:ext cx="2926080" cy="365760"/>
          </a:xfrm>
          <a:prstGeom prst="rect">
            <a:avLst/>
          </a:prstGeom>
          <a:noFill/>
          <a:ln/>
        </p:spPr>
        <p:txBody>
          <a:bodyPr wrap="square" lIns="0" tIns="0" rIns="0" bIns="0" rtlCol="0" anchor="ctr"/>
          <a:lstStyle/>
          <a:p>
            <a:pPr marL="0" indent="0" algn="l">
              <a:buNone/>
            </a:pPr>
            <a:r>
              <a:rPr lang="en-US" sz="900" dirty="0">
                <a:solidFill>
                  <a:srgbClr val="5B8FAE"/>
                </a:solidFill>
              </a:rPr>
              <a:t>Prepared for: Verve Leadership Team</a:t>
            </a:r>
            <a:endParaRPr lang="en-US" sz="900" dirty="0"/>
          </a:p>
        </p:txBody>
      </p:sp>
      <p:sp>
        <p:nvSpPr>
          <p:cNvPr id="8" name="Text 6"/>
          <p:cNvSpPr/>
          <p:nvPr/>
        </p:nvSpPr>
        <p:spPr>
          <a:xfrm>
            <a:off x="3840480" y="457200"/>
            <a:ext cx="5029200" cy="457200"/>
          </a:xfrm>
          <a:prstGeom prst="rect">
            <a:avLst/>
          </a:prstGeom>
          <a:noFill/>
          <a:ln/>
        </p:spPr>
        <p:txBody>
          <a:bodyPr wrap="square" lIns="0" tIns="0" rIns="0" bIns="0" rtlCol="0" anchor="ctr"/>
          <a:lstStyle/>
          <a:p>
            <a:pPr marL="0" indent="0" algn="l">
              <a:buNone/>
            </a:pPr>
            <a:r>
              <a:rPr lang="en-US" sz="1300" b="1" dirty="0">
                <a:solidFill>
                  <a:srgbClr val="0D9488"/>
                </a:solidFill>
              </a:rPr>
              <a:t>What We Found</a:t>
            </a:r>
            <a:endParaRPr lang="en-US" sz="1300" dirty="0"/>
          </a:p>
        </p:txBody>
      </p:sp>
      <p:sp>
        <p:nvSpPr>
          <p:cNvPr id="9" name="Shape 7"/>
          <p:cNvSpPr/>
          <p:nvPr/>
        </p:nvSpPr>
        <p:spPr>
          <a:xfrm>
            <a:off x="3840480" y="1005840"/>
            <a:ext cx="2286000" cy="1554480"/>
          </a:xfrm>
          <a:prstGeom prst="roundRect">
            <a:avLst>
              <a:gd name="adj" fmla="val 5882"/>
            </a:avLst>
          </a:prstGeom>
          <a:solidFill>
            <a:srgbClr val="0D2B45"/>
          </a:solidFill>
          <a:ln w="12700">
            <a:solidFill>
              <a:srgbClr val="0D9488"/>
            </a:solidFill>
            <a:prstDash val="solid"/>
          </a:ln>
        </p:spPr>
        <p:txBody>
          <a:bodyPr/>
          <a:lstStyle/>
          <a:p>
            <a:endParaRPr lang="en-AE"/>
          </a:p>
        </p:txBody>
      </p:sp>
      <p:sp>
        <p:nvSpPr>
          <p:cNvPr id="10" name="Text 8"/>
          <p:cNvSpPr/>
          <p:nvPr/>
        </p:nvSpPr>
        <p:spPr>
          <a:xfrm>
            <a:off x="3840480" y="1143000"/>
            <a:ext cx="2286000" cy="777240"/>
          </a:xfrm>
          <a:prstGeom prst="rect">
            <a:avLst/>
          </a:prstGeom>
          <a:noFill/>
          <a:ln/>
        </p:spPr>
        <p:txBody>
          <a:bodyPr wrap="square" lIns="0" tIns="0" rIns="0" bIns="0" rtlCol="0" anchor="ctr"/>
          <a:lstStyle/>
          <a:p>
            <a:pPr marL="0" indent="0" algn="ctr">
              <a:buNone/>
            </a:pPr>
            <a:r>
              <a:rPr lang="en-US" sz="3200" b="1" dirty="0">
                <a:solidFill>
                  <a:srgbClr val="0D9488"/>
                </a:solidFill>
                <a:latin typeface="Cambria" pitchFamily="34" charset="0"/>
                <a:ea typeface="Cambria" pitchFamily="34" charset="-122"/>
                <a:cs typeface="Cambria" pitchFamily="34" charset="-120"/>
              </a:rPr>
              <a:t>$1.76M</a:t>
            </a:r>
            <a:endParaRPr lang="en-US" sz="3200" dirty="0"/>
          </a:p>
        </p:txBody>
      </p:sp>
      <p:sp>
        <p:nvSpPr>
          <p:cNvPr id="11" name="Text 9"/>
          <p:cNvSpPr/>
          <p:nvPr/>
        </p:nvSpPr>
        <p:spPr>
          <a:xfrm>
            <a:off x="3840480" y="1920240"/>
            <a:ext cx="2286000" cy="502920"/>
          </a:xfrm>
          <a:prstGeom prst="rect">
            <a:avLst/>
          </a:prstGeom>
          <a:noFill/>
          <a:ln/>
        </p:spPr>
        <p:txBody>
          <a:bodyPr wrap="square" lIns="0" tIns="0" rIns="0" bIns="0" rtlCol="0" anchor="ctr"/>
          <a:lstStyle/>
          <a:p>
            <a:pPr marL="0" indent="0" algn="ctr">
              <a:buNone/>
            </a:pPr>
            <a:r>
              <a:rPr lang="en-US" sz="1000" dirty="0">
                <a:solidFill>
                  <a:srgbClr val="CADCFC"/>
                </a:solidFill>
              </a:rPr>
              <a:t>Total Revenue 2022–2024</a:t>
            </a:r>
            <a:endParaRPr lang="en-US" sz="1000" dirty="0"/>
          </a:p>
        </p:txBody>
      </p:sp>
      <p:sp>
        <p:nvSpPr>
          <p:cNvPr id="12" name="Shape 10"/>
          <p:cNvSpPr/>
          <p:nvPr/>
        </p:nvSpPr>
        <p:spPr>
          <a:xfrm>
            <a:off x="6309360" y="1005840"/>
            <a:ext cx="2286000" cy="1554480"/>
          </a:xfrm>
          <a:prstGeom prst="roundRect">
            <a:avLst>
              <a:gd name="adj" fmla="val 5882"/>
            </a:avLst>
          </a:prstGeom>
          <a:solidFill>
            <a:srgbClr val="0D2B45"/>
          </a:solidFill>
          <a:ln w="12700">
            <a:solidFill>
              <a:srgbClr val="0D9488"/>
            </a:solidFill>
            <a:prstDash val="solid"/>
          </a:ln>
        </p:spPr>
        <p:txBody>
          <a:bodyPr/>
          <a:lstStyle/>
          <a:p>
            <a:endParaRPr lang="en-AE"/>
          </a:p>
        </p:txBody>
      </p:sp>
      <p:sp>
        <p:nvSpPr>
          <p:cNvPr id="13" name="Text 11"/>
          <p:cNvSpPr/>
          <p:nvPr/>
        </p:nvSpPr>
        <p:spPr>
          <a:xfrm>
            <a:off x="6309360" y="1143000"/>
            <a:ext cx="2286000" cy="777240"/>
          </a:xfrm>
          <a:prstGeom prst="rect">
            <a:avLst/>
          </a:prstGeom>
          <a:noFill/>
          <a:ln/>
        </p:spPr>
        <p:txBody>
          <a:bodyPr wrap="square" lIns="0" tIns="0" rIns="0" bIns="0" rtlCol="0" anchor="ctr"/>
          <a:lstStyle/>
          <a:p>
            <a:pPr marL="0" indent="0" algn="ctr">
              <a:buNone/>
            </a:pPr>
            <a:r>
              <a:rPr lang="en-US" sz="3200" b="1" dirty="0">
                <a:solidFill>
                  <a:srgbClr val="0D9488"/>
                </a:solidFill>
                <a:latin typeface="Cambria" pitchFamily="34" charset="0"/>
                <a:ea typeface="Cambria" pitchFamily="34" charset="-122"/>
                <a:cs typeface="Cambria" pitchFamily="34" charset="-120"/>
              </a:rPr>
              <a:t>18.1%</a:t>
            </a:r>
            <a:endParaRPr lang="en-US" sz="3200" dirty="0"/>
          </a:p>
        </p:txBody>
      </p:sp>
      <p:sp>
        <p:nvSpPr>
          <p:cNvPr id="14" name="Text 12"/>
          <p:cNvSpPr/>
          <p:nvPr/>
        </p:nvSpPr>
        <p:spPr>
          <a:xfrm>
            <a:off x="6309360" y="1920240"/>
            <a:ext cx="2286000" cy="502920"/>
          </a:xfrm>
          <a:prstGeom prst="rect">
            <a:avLst/>
          </a:prstGeom>
          <a:noFill/>
          <a:ln/>
        </p:spPr>
        <p:txBody>
          <a:bodyPr wrap="square" lIns="0" tIns="0" rIns="0" bIns="0" rtlCol="0" anchor="ctr"/>
          <a:lstStyle/>
          <a:p>
            <a:pPr marL="0" indent="0" algn="ctr">
              <a:buNone/>
            </a:pPr>
            <a:r>
              <a:rPr lang="en-US" sz="1000" dirty="0">
                <a:solidFill>
                  <a:srgbClr val="CADCFC"/>
                </a:solidFill>
              </a:rPr>
              <a:t>Average Return Rate</a:t>
            </a:r>
            <a:endParaRPr lang="en-US" sz="1000" dirty="0"/>
          </a:p>
        </p:txBody>
      </p:sp>
      <p:sp>
        <p:nvSpPr>
          <p:cNvPr id="15" name="Shape 13"/>
          <p:cNvSpPr/>
          <p:nvPr/>
        </p:nvSpPr>
        <p:spPr>
          <a:xfrm>
            <a:off x="3840480" y="2834640"/>
            <a:ext cx="2286000" cy="1554480"/>
          </a:xfrm>
          <a:prstGeom prst="roundRect">
            <a:avLst>
              <a:gd name="adj" fmla="val 5882"/>
            </a:avLst>
          </a:prstGeom>
          <a:solidFill>
            <a:srgbClr val="0D2B45"/>
          </a:solidFill>
          <a:ln w="12700">
            <a:solidFill>
              <a:srgbClr val="0D9488"/>
            </a:solidFill>
            <a:prstDash val="solid"/>
          </a:ln>
        </p:spPr>
        <p:txBody>
          <a:bodyPr/>
          <a:lstStyle/>
          <a:p>
            <a:endParaRPr lang="en-AE"/>
          </a:p>
        </p:txBody>
      </p:sp>
      <p:sp>
        <p:nvSpPr>
          <p:cNvPr id="16" name="Text 14"/>
          <p:cNvSpPr/>
          <p:nvPr/>
        </p:nvSpPr>
        <p:spPr>
          <a:xfrm>
            <a:off x="3840480" y="2971800"/>
            <a:ext cx="2286000" cy="777240"/>
          </a:xfrm>
          <a:prstGeom prst="rect">
            <a:avLst/>
          </a:prstGeom>
          <a:noFill/>
          <a:ln/>
        </p:spPr>
        <p:txBody>
          <a:bodyPr wrap="square" lIns="0" tIns="0" rIns="0" bIns="0" rtlCol="0" anchor="ctr"/>
          <a:lstStyle/>
          <a:p>
            <a:pPr marL="0" indent="0" algn="ctr">
              <a:buNone/>
            </a:pPr>
            <a:r>
              <a:rPr lang="en-US" sz="3200" b="1" dirty="0">
                <a:solidFill>
                  <a:srgbClr val="0D9488"/>
                </a:solidFill>
                <a:latin typeface="Cambria" pitchFamily="34" charset="0"/>
                <a:ea typeface="Cambria" pitchFamily="34" charset="-122"/>
                <a:cs typeface="Cambria" pitchFamily="34" charset="-120"/>
              </a:rPr>
              <a:t>499</a:t>
            </a:r>
            <a:endParaRPr lang="en-US" sz="3200" dirty="0"/>
          </a:p>
        </p:txBody>
      </p:sp>
      <p:sp>
        <p:nvSpPr>
          <p:cNvPr id="17" name="Text 15"/>
          <p:cNvSpPr/>
          <p:nvPr/>
        </p:nvSpPr>
        <p:spPr>
          <a:xfrm>
            <a:off x="3840480" y="3749040"/>
            <a:ext cx="2286000" cy="502920"/>
          </a:xfrm>
          <a:prstGeom prst="rect">
            <a:avLst/>
          </a:prstGeom>
          <a:noFill/>
          <a:ln/>
        </p:spPr>
        <p:txBody>
          <a:bodyPr wrap="square" lIns="0" tIns="0" rIns="0" bIns="0" rtlCol="0" anchor="ctr"/>
          <a:lstStyle/>
          <a:p>
            <a:pPr marL="0" indent="0" algn="ctr">
              <a:buNone/>
            </a:pPr>
            <a:r>
              <a:rPr lang="en-US" sz="1000" dirty="0">
                <a:solidFill>
                  <a:srgbClr val="CADCFC"/>
                </a:solidFill>
              </a:rPr>
              <a:t>Active Customers</a:t>
            </a:r>
            <a:endParaRPr lang="en-US" sz="1000" dirty="0"/>
          </a:p>
        </p:txBody>
      </p:sp>
      <p:sp>
        <p:nvSpPr>
          <p:cNvPr id="18" name="Shape 16"/>
          <p:cNvSpPr/>
          <p:nvPr/>
        </p:nvSpPr>
        <p:spPr>
          <a:xfrm>
            <a:off x="6309360" y="2834640"/>
            <a:ext cx="2286000" cy="1554480"/>
          </a:xfrm>
          <a:prstGeom prst="roundRect">
            <a:avLst>
              <a:gd name="adj" fmla="val 5882"/>
            </a:avLst>
          </a:prstGeom>
          <a:solidFill>
            <a:srgbClr val="0D2B45"/>
          </a:solidFill>
          <a:ln w="12700">
            <a:solidFill>
              <a:srgbClr val="0D9488"/>
            </a:solidFill>
            <a:prstDash val="solid"/>
          </a:ln>
        </p:spPr>
        <p:txBody>
          <a:bodyPr/>
          <a:lstStyle/>
          <a:p>
            <a:endParaRPr lang="en-AE"/>
          </a:p>
        </p:txBody>
      </p:sp>
      <p:sp>
        <p:nvSpPr>
          <p:cNvPr id="19" name="Text 17"/>
          <p:cNvSpPr/>
          <p:nvPr/>
        </p:nvSpPr>
        <p:spPr>
          <a:xfrm>
            <a:off x="6309360" y="2971800"/>
            <a:ext cx="2286000" cy="777240"/>
          </a:xfrm>
          <a:prstGeom prst="rect">
            <a:avLst/>
          </a:prstGeom>
          <a:noFill/>
          <a:ln/>
        </p:spPr>
        <p:txBody>
          <a:bodyPr wrap="square" lIns="0" tIns="0" rIns="0" bIns="0" rtlCol="0" anchor="ctr"/>
          <a:lstStyle/>
          <a:p>
            <a:pPr marL="0" indent="0" algn="ctr">
              <a:buNone/>
            </a:pPr>
            <a:r>
              <a:rPr lang="en-US" sz="3200" b="1" dirty="0">
                <a:solidFill>
                  <a:srgbClr val="0D9488"/>
                </a:solidFill>
                <a:latin typeface="Cambria" pitchFamily="34" charset="0"/>
                <a:ea typeface="Cambria" pitchFamily="34" charset="-122"/>
                <a:cs typeface="Cambria" pitchFamily="34" charset="-120"/>
              </a:rPr>
              <a:t>$385K</a:t>
            </a:r>
            <a:endParaRPr lang="en-US" sz="3200" dirty="0"/>
          </a:p>
        </p:txBody>
      </p:sp>
      <p:sp>
        <p:nvSpPr>
          <p:cNvPr id="20" name="Text 18"/>
          <p:cNvSpPr/>
          <p:nvPr/>
        </p:nvSpPr>
        <p:spPr>
          <a:xfrm>
            <a:off x="6309360" y="3749040"/>
            <a:ext cx="2286000" cy="502920"/>
          </a:xfrm>
          <a:prstGeom prst="rect">
            <a:avLst/>
          </a:prstGeom>
          <a:noFill/>
          <a:ln/>
        </p:spPr>
        <p:txBody>
          <a:bodyPr wrap="square" lIns="0" tIns="0" rIns="0" bIns="0" rtlCol="0" anchor="ctr"/>
          <a:lstStyle/>
          <a:p>
            <a:pPr marL="0" indent="0" algn="ctr">
              <a:buNone/>
            </a:pPr>
            <a:r>
              <a:rPr lang="en-US" sz="1000" dirty="0">
                <a:solidFill>
                  <a:srgbClr val="CADCFC"/>
                </a:solidFill>
              </a:rPr>
              <a:t>Lost to Refunds</a:t>
            </a:r>
            <a:endParaRPr lang="en-US" sz="1000" dirty="0"/>
          </a:p>
        </p:txBody>
      </p:sp>
      <p:sp>
        <p:nvSpPr>
          <p:cNvPr id="21" name="Text 19"/>
          <p:cNvSpPr/>
          <p:nvPr/>
        </p:nvSpPr>
        <p:spPr>
          <a:xfrm>
            <a:off x="3840480" y="4663440"/>
            <a:ext cx="5029200" cy="320040"/>
          </a:xfrm>
          <a:prstGeom prst="rect">
            <a:avLst/>
          </a:prstGeom>
          <a:noFill/>
          <a:ln/>
        </p:spPr>
        <p:txBody>
          <a:bodyPr wrap="square" lIns="0" tIns="0" rIns="0" bIns="0" rtlCol="0" anchor="ctr"/>
          <a:lstStyle/>
          <a:p>
            <a:pPr marL="0" indent="0" algn="l">
              <a:buNone/>
            </a:pPr>
            <a:r>
              <a:rPr lang="en-US" sz="900" dirty="0">
                <a:solidFill>
                  <a:srgbClr val="5B8FAE"/>
                </a:solidFill>
              </a:rPr>
              <a:t>Covering: Returns &amp; Refunds  |  Store Performance &amp; Inventory  |  Customer Segmentation &amp; RFM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600" b="1" dirty="0">
                <a:solidFill>
                  <a:srgbClr val="0A2540"/>
                </a:solidFill>
                <a:latin typeface="Cambria" pitchFamily="34" charset="0"/>
                <a:ea typeface="Cambria" pitchFamily="34" charset="-122"/>
                <a:cs typeface="Cambria" pitchFamily="34" charset="-120"/>
              </a:rPr>
              <a:t>Why This Analysis Was Commissioned</a:t>
            </a:r>
            <a:endParaRPr lang="en-US" sz="2600" dirty="0"/>
          </a:p>
        </p:txBody>
      </p:sp>
      <p:sp>
        <p:nvSpPr>
          <p:cNvPr id="3" name="Text 1"/>
          <p:cNvSpPr/>
          <p:nvPr/>
        </p:nvSpPr>
        <p:spPr>
          <a:xfrm>
            <a:off x="365760" y="685800"/>
            <a:ext cx="8412480" cy="320040"/>
          </a:xfrm>
          <a:prstGeom prst="rect">
            <a:avLst/>
          </a:prstGeom>
          <a:noFill/>
          <a:ln/>
        </p:spPr>
        <p:txBody>
          <a:bodyPr wrap="square" lIns="0" tIns="0" rIns="0" bIns="0" rtlCol="0" anchor="ctr"/>
          <a:lstStyle/>
          <a:p>
            <a:pPr marL="0" indent="0">
              <a:buNone/>
            </a:pPr>
            <a:r>
              <a:rPr lang="en-US" sz="1200" dirty="0">
                <a:solidFill>
                  <a:srgbClr val="475569"/>
                </a:solidFill>
              </a:rPr>
              <a:t>Verve's leadership identified three growing concerns heading into 2025 that required data-driven answers</a:t>
            </a:r>
            <a:endParaRPr lang="en-US" sz="1200" dirty="0"/>
          </a:p>
        </p:txBody>
      </p:sp>
      <p:sp>
        <p:nvSpPr>
          <p:cNvPr id="4" name="Shape 2"/>
          <p:cNvSpPr/>
          <p:nvPr/>
        </p:nvSpPr>
        <p:spPr>
          <a:xfrm>
            <a:off x="274320" y="1097280"/>
            <a:ext cx="2651760" cy="3291840"/>
          </a:xfrm>
          <a:prstGeom prst="roundRect">
            <a:avLst>
              <a:gd name="adj" fmla="val 482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5" name="Shape 3"/>
          <p:cNvSpPr/>
          <p:nvPr/>
        </p:nvSpPr>
        <p:spPr>
          <a:xfrm>
            <a:off x="1280160" y="1280160"/>
            <a:ext cx="640080" cy="640080"/>
          </a:xfrm>
          <a:prstGeom prst="ellipse">
            <a:avLst/>
          </a:prstGeom>
          <a:solidFill>
            <a:srgbClr val="DC2626"/>
          </a:solidFill>
          <a:ln w="12700">
            <a:solidFill>
              <a:srgbClr val="DC2626"/>
            </a:solidFill>
            <a:prstDash val="solid"/>
          </a:ln>
        </p:spPr>
        <p:txBody>
          <a:bodyPr/>
          <a:lstStyle/>
          <a:p>
            <a:endParaRPr lang="en-AE"/>
          </a:p>
        </p:txBody>
      </p:sp>
      <p:sp>
        <p:nvSpPr>
          <p:cNvPr id="6" name="Text 4"/>
          <p:cNvSpPr/>
          <p:nvPr/>
        </p:nvSpPr>
        <p:spPr>
          <a:xfrm>
            <a:off x="1280160" y="1280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Text 5"/>
          <p:cNvSpPr/>
          <p:nvPr/>
        </p:nvSpPr>
        <p:spPr>
          <a:xfrm>
            <a:off x="411480" y="2057400"/>
            <a:ext cx="2377440"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mbria" pitchFamily="34" charset="0"/>
                <a:ea typeface="Cambria" pitchFamily="34" charset="-122"/>
                <a:cs typeface="Cambria" pitchFamily="34" charset="-120"/>
              </a:rPr>
              <a:t>Rising Return &amp; Refund Rates</a:t>
            </a:r>
            <a:endParaRPr lang="en-US" sz="1300" dirty="0"/>
          </a:p>
        </p:txBody>
      </p:sp>
      <p:sp>
        <p:nvSpPr>
          <p:cNvPr id="8" name="Text 6"/>
          <p:cNvSpPr/>
          <p:nvPr/>
        </p:nvSpPr>
        <p:spPr>
          <a:xfrm>
            <a:off x="457200" y="2606040"/>
            <a:ext cx="2286000" cy="1645920"/>
          </a:xfrm>
          <a:prstGeom prst="rect">
            <a:avLst/>
          </a:prstGeom>
          <a:noFill/>
          <a:ln/>
        </p:spPr>
        <p:txBody>
          <a:bodyPr wrap="square" lIns="0" tIns="0" rIns="0" bIns="0" rtlCol="0" anchor="ctr"/>
          <a:lstStyle/>
          <a:p>
            <a:pPr marL="0" indent="0" algn="l">
              <a:buNone/>
            </a:pPr>
            <a:r>
              <a:rPr lang="en-US" sz="1100" dirty="0">
                <a:solidFill>
                  <a:srgbClr val="475569"/>
                </a:solidFill>
              </a:rPr>
              <a:t>Customer returns have been climbing, cutting into net revenue. The operations team suspected product quality and fulfilment issues but lacked data to confirm the root cause.</a:t>
            </a:r>
            <a:endParaRPr lang="en-US" sz="1100" dirty="0"/>
          </a:p>
        </p:txBody>
      </p:sp>
      <p:sp>
        <p:nvSpPr>
          <p:cNvPr id="9" name="Shape 7"/>
          <p:cNvSpPr/>
          <p:nvPr/>
        </p:nvSpPr>
        <p:spPr>
          <a:xfrm>
            <a:off x="3246120" y="1097280"/>
            <a:ext cx="2651760" cy="3291840"/>
          </a:xfrm>
          <a:prstGeom prst="roundRect">
            <a:avLst>
              <a:gd name="adj" fmla="val 482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0" name="Shape 8"/>
          <p:cNvSpPr/>
          <p:nvPr/>
        </p:nvSpPr>
        <p:spPr>
          <a:xfrm>
            <a:off x="4251960" y="1280160"/>
            <a:ext cx="640080" cy="640080"/>
          </a:xfrm>
          <a:prstGeom prst="ellipse">
            <a:avLst/>
          </a:prstGeom>
          <a:solidFill>
            <a:srgbClr val="D97706"/>
          </a:solidFill>
          <a:ln w="12700">
            <a:solidFill>
              <a:srgbClr val="D97706"/>
            </a:solidFill>
            <a:prstDash val="solid"/>
          </a:ln>
        </p:spPr>
        <p:txBody>
          <a:bodyPr/>
          <a:lstStyle/>
          <a:p>
            <a:endParaRPr lang="en-AE"/>
          </a:p>
        </p:txBody>
      </p:sp>
      <p:sp>
        <p:nvSpPr>
          <p:cNvPr id="11" name="Text 9"/>
          <p:cNvSpPr/>
          <p:nvPr/>
        </p:nvSpPr>
        <p:spPr>
          <a:xfrm>
            <a:off x="4251960" y="1280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2" name="Text 10"/>
          <p:cNvSpPr/>
          <p:nvPr/>
        </p:nvSpPr>
        <p:spPr>
          <a:xfrm>
            <a:off x="3383280" y="2057400"/>
            <a:ext cx="2377440"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mbria" pitchFamily="34" charset="0"/>
                <a:ea typeface="Cambria" pitchFamily="34" charset="-122"/>
                <a:cs typeface="Cambria" pitchFamily="34" charset="-120"/>
              </a:rPr>
              <a:t>Uneven Store Performance &amp; Inventory Misalignment</a:t>
            </a:r>
            <a:endParaRPr lang="en-US" sz="1300" dirty="0"/>
          </a:p>
        </p:txBody>
      </p:sp>
      <p:sp>
        <p:nvSpPr>
          <p:cNvPr id="13" name="Text 11"/>
          <p:cNvSpPr/>
          <p:nvPr/>
        </p:nvSpPr>
        <p:spPr>
          <a:xfrm>
            <a:off x="3429000" y="2606040"/>
            <a:ext cx="2286000" cy="1645920"/>
          </a:xfrm>
          <a:prstGeom prst="rect">
            <a:avLst/>
          </a:prstGeom>
          <a:noFill/>
          <a:ln/>
        </p:spPr>
        <p:txBody>
          <a:bodyPr wrap="square" lIns="0" tIns="0" rIns="0" bIns="0" rtlCol="0" anchor="ctr"/>
          <a:lstStyle/>
          <a:p>
            <a:pPr marL="0" indent="0" algn="l">
              <a:buNone/>
            </a:pPr>
            <a:r>
              <a:rPr lang="en-US" sz="1100" dirty="0">
                <a:solidFill>
                  <a:srgbClr val="475569"/>
                </a:solidFill>
              </a:rPr>
              <a:t>Several stores are underperforming despite strong market locations. Inventory is piling up in some stores while others are running out of stock.</a:t>
            </a:r>
            <a:endParaRPr lang="en-US" sz="1100" dirty="0"/>
          </a:p>
        </p:txBody>
      </p:sp>
      <p:sp>
        <p:nvSpPr>
          <p:cNvPr id="14" name="Shape 12"/>
          <p:cNvSpPr/>
          <p:nvPr/>
        </p:nvSpPr>
        <p:spPr>
          <a:xfrm>
            <a:off x="6217920" y="1097280"/>
            <a:ext cx="2651760" cy="3291840"/>
          </a:xfrm>
          <a:prstGeom prst="roundRect">
            <a:avLst>
              <a:gd name="adj" fmla="val 482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5" name="Shape 13"/>
          <p:cNvSpPr/>
          <p:nvPr/>
        </p:nvSpPr>
        <p:spPr>
          <a:xfrm>
            <a:off x="7223760" y="1280160"/>
            <a:ext cx="640080" cy="640080"/>
          </a:xfrm>
          <a:prstGeom prst="ellipse">
            <a:avLst/>
          </a:prstGeom>
          <a:solidFill>
            <a:srgbClr val="065A82"/>
          </a:solidFill>
          <a:ln w="12700">
            <a:solidFill>
              <a:srgbClr val="065A82"/>
            </a:solidFill>
            <a:prstDash val="solid"/>
          </a:ln>
        </p:spPr>
        <p:txBody>
          <a:bodyPr/>
          <a:lstStyle/>
          <a:p>
            <a:endParaRPr lang="en-AE"/>
          </a:p>
        </p:txBody>
      </p:sp>
      <p:sp>
        <p:nvSpPr>
          <p:cNvPr id="16" name="Text 14"/>
          <p:cNvSpPr/>
          <p:nvPr/>
        </p:nvSpPr>
        <p:spPr>
          <a:xfrm>
            <a:off x="7223760" y="1280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7" name="Text 15"/>
          <p:cNvSpPr/>
          <p:nvPr/>
        </p:nvSpPr>
        <p:spPr>
          <a:xfrm>
            <a:off x="6355080" y="2057400"/>
            <a:ext cx="2377440"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mbria" pitchFamily="34" charset="0"/>
                <a:ea typeface="Cambria" pitchFamily="34" charset="-122"/>
                <a:cs typeface="Cambria" pitchFamily="34" charset="-120"/>
              </a:rPr>
              <a:t>Shifting Customer Base &amp; Loyalty Concerns</a:t>
            </a:r>
            <a:endParaRPr lang="en-US" sz="1300" dirty="0"/>
          </a:p>
        </p:txBody>
      </p:sp>
      <p:sp>
        <p:nvSpPr>
          <p:cNvPr id="18" name="Text 16"/>
          <p:cNvSpPr/>
          <p:nvPr/>
        </p:nvSpPr>
        <p:spPr>
          <a:xfrm>
            <a:off x="6400800" y="2606040"/>
            <a:ext cx="2286000" cy="1645920"/>
          </a:xfrm>
          <a:prstGeom prst="rect">
            <a:avLst/>
          </a:prstGeom>
          <a:noFill/>
          <a:ln/>
        </p:spPr>
        <p:txBody>
          <a:bodyPr wrap="square" lIns="0" tIns="0" rIns="0" bIns="0" rtlCol="0" anchor="ctr"/>
          <a:lstStyle/>
          <a:p>
            <a:pPr marL="0" indent="0" algn="l">
              <a:buNone/>
            </a:pPr>
            <a:r>
              <a:rPr lang="en-US" sz="1100" dirty="0">
                <a:solidFill>
                  <a:srgbClr val="475569"/>
                </a:solidFill>
              </a:rPr>
              <a:t>A growing share of revenue comes from a small group of high-value customers while a large segment has purchased only once and never returned.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NETWORK OVERVIEW</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800" b="1" dirty="0">
                <a:solidFill>
                  <a:srgbClr val="0A2540"/>
                </a:solidFill>
                <a:latin typeface="Cambria" pitchFamily="34" charset="0"/>
                <a:ea typeface="Cambria" pitchFamily="34" charset="-122"/>
                <a:cs typeface="Cambria" pitchFamily="34" charset="-120"/>
              </a:rPr>
              <a:t>Verve at a Glance: 2022–2024</a:t>
            </a:r>
            <a:endParaRPr lang="en-US" sz="2800" dirty="0"/>
          </a:p>
        </p:txBody>
      </p:sp>
      <p:sp>
        <p:nvSpPr>
          <p:cNvPr id="5" name="Shape 3"/>
          <p:cNvSpPr/>
          <p:nvPr/>
        </p:nvSpPr>
        <p:spPr>
          <a:xfrm>
            <a:off x="320040" y="1234440"/>
            <a:ext cx="192024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6" name="Text 4"/>
          <p:cNvSpPr/>
          <p:nvPr/>
        </p:nvSpPr>
        <p:spPr>
          <a:xfrm>
            <a:off x="457200" y="1344168"/>
            <a:ext cx="1645920" cy="637794"/>
          </a:xfrm>
          <a:prstGeom prst="rect">
            <a:avLst/>
          </a:prstGeom>
          <a:noFill/>
          <a:ln/>
        </p:spPr>
        <p:txBody>
          <a:bodyPr wrap="square" lIns="0" tIns="0" rIns="0" bIns="0" rtlCol="0" anchor="ctr"/>
          <a:lstStyle/>
          <a:p>
            <a:pPr marL="0" indent="0" algn="ctr">
              <a:buNone/>
            </a:pPr>
            <a:r>
              <a:rPr lang="en-US" sz="3600" b="1" dirty="0">
                <a:solidFill>
                  <a:srgbClr val="065A82"/>
                </a:solidFill>
                <a:latin typeface="Cambria" pitchFamily="34" charset="0"/>
                <a:ea typeface="Cambria" pitchFamily="34" charset="-122"/>
                <a:cs typeface="Cambria" pitchFamily="34" charset="-120"/>
              </a:rPr>
              <a:t>$1.76M</a:t>
            </a:r>
            <a:endParaRPr lang="en-US" sz="3600" dirty="0"/>
          </a:p>
        </p:txBody>
      </p:sp>
      <p:sp>
        <p:nvSpPr>
          <p:cNvPr id="7" name="Text 5"/>
          <p:cNvSpPr/>
          <p:nvPr/>
        </p:nvSpPr>
        <p:spPr>
          <a:xfrm>
            <a:off x="411480" y="194310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Total Revenue</a:t>
            </a:r>
            <a:endParaRPr lang="en-US" sz="1200" dirty="0"/>
          </a:p>
        </p:txBody>
      </p:sp>
      <p:sp>
        <p:nvSpPr>
          <p:cNvPr id="8" name="Text 6"/>
          <p:cNvSpPr/>
          <p:nvPr/>
        </p:nvSpPr>
        <p:spPr>
          <a:xfrm>
            <a:off x="411480" y="231160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All stores combined</a:t>
            </a:r>
            <a:endParaRPr lang="en-US" sz="900" dirty="0"/>
          </a:p>
        </p:txBody>
      </p:sp>
      <p:sp>
        <p:nvSpPr>
          <p:cNvPr id="9" name="Shape 7"/>
          <p:cNvSpPr/>
          <p:nvPr/>
        </p:nvSpPr>
        <p:spPr>
          <a:xfrm>
            <a:off x="2377440" y="1234440"/>
            <a:ext cx="192024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0" name="Text 8"/>
          <p:cNvSpPr/>
          <p:nvPr/>
        </p:nvSpPr>
        <p:spPr>
          <a:xfrm>
            <a:off x="2514600" y="1344168"/>
            <a:ext cx="1645920" cy="637794"/>
          </a:xfrm>
          <a:prstGeom prst="rect">
            <a:avLst/>
          </a:prstGeom>
          <a:noFill/>
          <a:ln/>
        </p:spPr>
        <p:txBody>
          <a:bodyPr wrap="square" lIns="0" tIns="0" rIns="0" bIns="0" rtlCol="0" anchor="ctr"/>
          <a:lstStyle/>
          <a:p>
            <a:pPr marL="0" indent="0" algn="ctr">
              <a:buNone/>
            </a:pPr>
            <a:r>
              <a:rPr lang="en-US" sz="3600" b="1" dirty="0">
                <a:solidFill>
                  <a:srgbClr val="0D9488"/>
                </a:solidFill>
                <a:latin typeface="Cambria" pitchFamily="34" charset="0"/>
                <a:ea typeface="Cambria" pitchFamily="34" charset="-122"/>
                <a:cs typeface="Cambria" pitchFamily="34" charset="-120"/>
              </a:rPr>
              <a:t>$1.3M</a:t>
            </a:r>
            <a:endParaRPr lang="en-US" sz="3600" dirty="0"/>
          </a:p>
        </p:txBody>
      </p:sp>
      <p:sp>
        <p:nvSpPr>
          <p:cNvPr id="11" name="Text 9"/>
          <p:cNvSpPr/>
          <p:nvPr/>
        </p:nvSpPr>
        <p:spPr>
          <a:xfrm>
            <a:off x="2468880" y="194310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Total Profit</a:t>
            </a:r>
            <a:endParaRPr lang="en-US" sz="1200" dirty="0"/>
          </a:p>
        </p:txBody>
      </p:sp>
      <p:sp>
        <p:nvSpPr>
          <p:cNvPr id="12" name="Text 10"/>
          <p:cNvSpPr/>
          <p:nvPr/>
        </p:nvSpPr>
        <p:spPr>
          <a:xfrm>
            <a:off x="2468880" y="231160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74% avg margin</a:t>
            </a:r>
            <a:endParaRPr lang="en-US" sz="900" dirty="0"/>
          </a:p>
        </p:txBody>
      </p:sp>
      <p:sp>
        <p:nvSpPr>
          <p:cNvPr id="13" name="Shape 11"/>
          <p:cNvSpPr/>
          <p:nvPr/>
        </p:nvSpPr>
        <p:spPr>
          <a:xfrm>
            <a:off x="4434840" y="1234440"/>
            <a:ext cx="192024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4" name="Text 12"/>
          <p:cNvSpPr/>
          <p:nvPr/>
        </p:nvSpPr>
        <p:spPr>
          <a:xfrm>
            <a:off x="4572000" y="1344168"/>
            <a:ext cx="1645920" cy="637794"/>
          </a:xfrm>
          <a:prstGeom prst="rect">
            <a:avLst/>
          </a:prstGeom>
          <a:noFill/>
          <a:ln/>
        </p:spPr>
        <p:txBody>
          <a:bodyPr wrap="square" lIns="0" tIns="0" rIns="0" bIns="0" rtlCol="0" anchor="ctr"/>
          <a:lstStyle/>
          <a:p>
            <a:pPr marL="0" indent="0" algn="ctr">
              <a:buNone/>
            </a:pPr>
            <a:r>
              <a:rPr lang="en-US" sz="3600" b="1" dirty="0">
                <a:solidFill>
                  <a:srgbClr val="065A82"/>
                </a:solidFill>
                <a:latin typeface="Cambria" pitchFamily="34" charset="0"/>
                <a:ea typeface="Cambria" pitchFamily="34" charset="-122"/>
                <a:cs typeface="Cambria" pitchFamily="34" charset="-120"/>
              </a:rPr>
              <a:t>499</a:t>
            </a:r>
            <a:endParaRPr lang="en-US" sz="3600" dirty="0"/>
          </a:p>
        </p:txBody>
      </p:sp>
      <p:sp>
        <p:nvSpPr>
          <p:cNvPr id="15" name="Text 13"/>
          <p:cNvSpPr/>
          <p:nvPr/>
        </p:nvSpPr>
        <p:spPr>
          <a:xfrm>
            <a:off x="4526280" y="194310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Customers</a:t>
            </a:r>
            <a:endParaRPr lang="en-US" sz="1200" dirty="0"/>
          </a:p>
        </p:txBody>
      </p:sp>
      <p:sp>
        <p:nvSpPr>
          <p:cNvPr id="16" name="Text 14"/>
          <p:cNvSpPr/>
          <p:nvPr/>
        </p:nvSpPr>
        <p:spPr>
          <a:xfrm>
            <a:off x="4526280" y="231160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Active buyers</a:t>
            </a:r>
            <a:endParaRPr lang="en-US" sz="900" dirty="0"/>
          </a:p>
        </p:txBody>
      </p:sp>
      <p:sp>
        <p:nvSpPr>
          <p:cNvPr id="17" name="Shape 15"/>
          <p:cNvSpPr/>
          <p:nvPr/>
        </p:nvSpPr>
        <p:spPr>
          <a:xfrm>
            <a:off x="6492240" y="1234440"/>
            <a:ext cx="192024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8" name="Text 16"/>
          <p:cNvSpPr/>
          <p:nvPr/>
        </p:nvSpPr>
        <p:spPr>
          <a:xfrm>
            <a:off x="6629400" y="1344168"/>
            <a:ext cx="1645920" cy="637794"/>
          </a:xfrm>
          <a:prstGeom prst="rect">
            <a:avLst/>
          </a:prstGeom>
          <a:noFill/>
          <a:ln/>
        </p:spPr>
        <p:txBody>
          <a:bodyPr wrap="square" lIns="0" tIns="0" rIns="0" bIns="0" rtlCol="0" anchor="ctr"/>
          <a:lstStyle/>
          <a:p>
            <a:pPr marL="0" indent="0" algn="ctr">
              <a:buNone/>
            </a:pPr>
            <a:r>
              <a:rPr lang="en-US" sz="3600" b="1" dirty="0">
                <a:solidFill>
                  <a:srgbClr val="0D9488"/>
                </a:solidFill>
                <a:latin typeface="Cambria" pitchFamily="34" charset="0"/>
                <a:ea typeface="Cambria" pitchFamily="34" charset="-122"/>
                <a:cs typeface="Cambria" pitchFamily="34" charset="-120"/>
              </a:rPr>
              <a:t>15</a:t>
            </a:r>
            <a:endParaRPr lang="en-US" sz="3600" dirty="0"/>
          </a:p>
        </p:txBody>
      </p:sp>
      <p:sp>
        <p:nvSpPr>
          <p:cNvPr id="19" name="Text 17"/>
          <p:cNvSpPr/>
          <p:nvPr/>
        </p:nvSpPr>
        <p:spPr>
          <a:xfrm>
            <a:off x="6583680" y="194310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Stores</a:t>
            </a:r>
            <a:endParaRPr lang="en-US" sz="1200" dirty="0"/>
          </a:p>
        </p:txBody>
      </p:sp>
      <p:sp>
        <p:nvSpPr>
          <p:cNvPr id="20" name="Text 18"/>
          <p:cNvSpPr/>
          <p:nvPr/>
        </p:nvSpPr>
        <p:spPr>
          <a:xfrm>
            <a:off x="6583680" y="231160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14 physical + online</a:t>
            </a:r>
            <a:endParaRPr lang="en-US" sz="900" dirty="0"/>
          </a:p>
        </p:txBody>
      </p:sp>
      <p:sp>
        <p:nvSpPr>
          <p:cNvPr id="21" name="Shape 19"/>
          <p:cNvSpPr/>
          <p:nvPr/>
        </p:nvSpPr>
        <p:spPr>
          <a:xfrm>
            <a:off x="320040" y="2788920"/>
            <a:ext cx="192024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22" name="Text 20"/>
          <p:cNvSpPr/>
          <p:nvPr/>
        </p:nvSpPr>
        <p:spPr>
          <a:xfrm>
            <a:off x="457200" y="2898648"/>
            <a:ext cx="1645920" cy="637794"/>
          </a:xfrm>
          <a:prstGeom prst="rect">
            <a:avLst/>
          </a:prstGeom>
          <a:noFill/>
          <a:ln/>
        </p:spPr>
        <p:txBody>
          <a:bodyPr wrap="square" lIns="0" tIns="0" rIns="0" bIns="0" rtlCol="0" anchor="ctr"/>
          <a:lstStyle/>
          <a:p>
            <a:pPr marL="0" indent="0" algn="ctr">
              <a:buNone/>
            </a:pPr>
            <a:r>
              <a:rPr lang="en-US" sz="3600" b="1" dirty="0">
                <a:solidFill>
                  <a:srgbClr val="DC2626"/>
                </a:solidFill>
                <a:latin typeface="Cambria" pitchFamily="34" charset="0"/>
                <a:ea typeface="Cambria" pitchFamily="34" charset="-122"/>
                <a:cs typeface="Cambria" pitchFamily="34" charset="-120"/>
              </a:rPr>
              <a:t>18.1%</a:t>
            </a:r>
            <a:endParaRPr lang="en-US" sz="3600" dirty="0"/>
          </a:p>
        </p:txBody>
      </p:sp>
      <p:sp>
        <p:nvSpPr>
          <p:cNvPr id="23" name="Text 21"/>
          <p:cNvSpPr/>
          <p:nvPr/>
        </p:nvSpPr>
        <p:spPr>
          <a:xfrm>
            <a:off x="411480" y="349758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Return Rate</a:t>
            </a:r>
            <a:endParaRPr lang="en-US" sz="1200" dirty="0"/>
          </a:p>
        </p:txBody>
      </p:sp>
      <p:sp>
        <p:nvSpPr>
          <p:cNvPr id="24" name="Text 22"/>
          <p:cNvSpPr/>
          <p:nvPr/>
        </p:nvSpPr>
        <p:spPr>
          <a:xfrm>
            <a:off x="411480" y="386608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Persistent 3yr avg</a:t>
            </a:r>
            <a:endParaRPr lang="en-US" sz="900" dirty="0"/>
          </a:p>
        </p:txBody>
      </p:sp>
      <p:sp>
        <p:nvSpPr>
          <p:cNvPr id="25" name="Shape 23"/>
          <p:cNvSpPr/>
          <p:nvPr/>
        </p:nvSpPr>
        <p:spPr>
          <a:xfrm>
            <a:off x="2377440" y="2788920"/>
            <a:ext cx="192024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26" name="Text 24"/>
          <p:cNvSpPr/>
          <p:nvPr/>
        </p:nvSpPr>
        <p:spPr>
          <a:xfrm>
            <a:off x="2514600" y="2898648"/>
            <a:ext cx="1645920" cy="637794"/>
          </a:xfrm>
          <a:prstGeom prst="rect">
            <a:avLst/>
          </a:prstGeom>
          <a:noFill/>
          <a:ln/>
        </p:spPr>
        <p:txBody>
          <a:bodyPr wrap="square" lIns="0" tIns="0" rIns="0" bIns="0" rtlCol="0" anchor="ctr"/>
          <a:lstStyle/>
          <a:p>
            <a:pPr marL="0" indent="0" algn="ctr">
              <a:buNone/>
            </a:pPr>
            <a:r>
              <a:rPr lang="en-US" sz="3600" b="1" dirty="0">
                <a:solidFill>
                  <a:srgbClr val="DC2626"/>
                </a:solidFill>
                <a:latin typeface="Cambria" pitchFamily="34" charset="0"/>
                <a:ea typeface="Cambria" pitchFamily="34" charset="-122"/>
                <a:cs typeface="Cambria" pitchFamily="34" charset="-120"/>
              </a:rPr>
              <a:t>$385K</a:t>
            </a:r>
            <a:endParaRPr lang="en-US" sz="3600" dirty="0"/>
          </a:p>
        </p:txBody>
      </p:sp>
      <p:sp>
        <p:nvSpPr>
          <p:cNvPr id="27" name="Text 25"/>
          <p:cNvSpPr/>
          <p:nvPr/>
        </p:nvSpPr>
        <p:spPr>
          <a:xfrm>
            <a:off x="2468880" y="349758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Lost to Refunds</a:t>
            </a:r>
            <a:endParaRPr lang="en-US" sz="1200" dirty="0"/>
          </a:p>
        </p:txBody>
      </p:sp>
      <p:sp>
        <p:nvSpPr>
          <p:cNvPr id="28" name="Text 26"/>
          <p:cNvSpPr/>
          <p:nvPr/>
        </p:nvSpPr>
        <p:spPr>
          <a:xfrm>
            <a:off x="2468880" y="386608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All categories</a:t>
            </a:r>
            <a:endParaRPr lang="en-US" sz="900" dirty="0"/>
          </a:p>
        </p:txBody>
      </p:sp>
      <p:sp>
        <p:nvSpPr>
          <p:cNvPr id="29" name="Shape 27"/>
          <p:cNvSpPr/>
          <p:nvPr/>
        </p:nvSpPr>
        <p:spPr>
          <a:xfrm>
            <a:off x="4434840" y="2788920"/>
            <a:ext cx="192024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30" name="Text 28"/>
          <p:cNvSpPr/>
          <p:nvPr/>
        </p:nvSpPr>
        <p:spPr>
          <a:xfrm>
            <a:off x="4572000" y="2898648"/>
            <a:ext cx="1645920" cy="637794"/>
          </a:xfrm>
          <a:prstGeom prst="rect">
            <a:avLst/>
          </a:prstGeom>
          <a:noFill/>
          <a:ln/>
        </p:spPr>
        <p:txBody>
          <a:bodyPr wrap="square" lIns="0" tIns="0" rIns="0" bIns="0" rtlCol="0" anchor="ctr"/>
          <a:lstStyle/>
          <a:p>
            <a:pPr marL="0" indent="0" algn="ctr">
              <a:buNone/>
            </a:pPr>
            <a:r>
              <a:rPr lang="en-US" sz="3600" b="1" dirty="0">
                <a:solidFill>
                  <a:srgbClr val="065A82"/>
                </a:solidFill>
                <a:latin typeface="Cambria" pitchFamily="34" charset="0"/>
                <a:ea typeface="Cambria" pitchFamily="34" charset="-122"/>
                <a:cs typeface="Cambria" pitchFamily="34" charset="-120"/>
              </a:rPr>
              <a:t>$716</a:t>
            </a:r>
            <a:endParaRPr lang="en-US" sz="3600" dirty="0"/>
          </a:p>
        </p:txBody>
      </p:sp>
      <p:sp>
        <p:nvSpPr>
          <p:cNvPr id="31" name="Text 29"/>
          <p:cNvSpPr/>
          <p:nvPr/>
        </p:nvSpPr>
        <p:spPr>
          <a:xfrm>
            <a:off x="4526280" y="349758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Avg Order Value</a:t>
            </a:r>
            <a:endParaRPr lang="en-US" sz="1200" dirty="0"/>
          </a:p>
        </p:txBody>
      </p:sp>
      <p:sp>
        <p:nvSpPr>
          <p:cNvPr id="32" name="Text 30"/>
          <p:cNvSpPr/>
          <p:nvPr/>
        </p:nvSpPr>
        <p:spPr>
          <a:xfrm>
            <a:off x="4526280" y="386608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Per transaction</a:t>
            </a:r>
            <a:endParaRPr lang="en-US" sz="900" dirty="0"/>
          </a:p>
        </p:txBody>
      </p:sp>
      <p:sp>
        <p:nvSpPr>
          <p:cNvPr id="33" name="Shape 31"/>
          <p:cNvSpPr/>
          <p:nvPr/>
        </p:nvSpPr>
        <p:spPr>
          <a:xfrm>
            <a:off x="6492240" y="2788920"/>
            <a:ext cx="1965960" cy="1417320"/>
          </a:xfrm>
          <a:prstGeom prst="roundRect">
            <a:avLst>
              <a:gd name="adj" fmla="val 774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34" name="Text 32"/>
          <p:cNvSpPr/>
          <p:nvPr/>
        </p:nvSpPr>
        <p:spPr>
          <a:xfrm>
            <a:off x="6629400" y="2898648"/>
            <a:ext cx="1828800" cy="637794"/>
          </a:xfrm>
          <a:prstGeom prst="rect">
            <a:avLst/>
          </a:prstGeom>
          <a:noFill/>
          <a:ln/>
        </p:spPr>
        <p:txBody>
          <a:bodyPr wrap="square" lIns="0" tIns="0" rIns="0" bIns="0" rtlCol="0" anchor="ctr"/>
          <a:lstStyle/>
          <a:p>
            <a:pPr marL="0" indent="0" algn="ctr">
              <a:buNone/>
            </a:pPr>
            <a:r>
              <a:rPr lang="en-US" sz="3600" b="1" dirty="0">
                <a:solidFill>
                  <a:srgbClr val="0D9488"/>
                </a:solidFill>
                <a:latin typeface="Cambria" pitchFamily="34" charset="0"/>
                <a:ea typeface="Cambria" pitchFamily="34" charset="-122"/>
                <a:cs typeface="Cambria" pitchFamily="34" charset="-120"/>
              </a:rPr>
              <a:t>$10,560</a:t>
            </a:r>
            <a:endParaRPr lang="en-US" sz="3600" dirty="0"/>
          </a:p>
        </p:txBody>
      </p:sp>
      <p:sp>
        <p:nvSpPr>
          <p:cNvPr id="35" name="Text 33"/>
          <p:cNvSpPr/>
          <p:nvPr/>
        </p:nvSpPr>
        <p:spPr>
          <a:xfrm>
            <a:off x="6583680" y="3497580"/>
            <a:ext cx="1737360" cy="396850"/>
          </a:xfrm>
          <a:prstGeom prst="rect">
            <a:avLst/>
          </a:prstGeom>
          <a:noFill/>
          <a:ln/>
        </p:spPr>
        <p:txBody>
          <a:bodyPr wrap="square" lIns="0" tIns="0" rIns="0" bIns="0" rtlCol="0" anchor="ctr"/>
          <a:lstStyle/>
          <a:p>
            <a:pPr marL="0" indent="0" algn="ctr">
              <a:buNone/>
            </a:pPr>
            <a:r>
              <a:rPr lang="en-US" sz="1200" b="1" dirty="0">
                <a:solidFill>
                  <a:srgbClr val="1E293B"/>
                </a:solidFill>
              </a:rPr>
              <a:t>Avg Customer LTV</a:t>
            </a:r>
            <a:endParaRPr lang="en-US" sz="1200" dirty="0"/>
          </a:p>
        </p:txBody>
      </p:sp>
      <p:sp>
        <p:nvSpPr>
          <p:cNvPr id="36" name="Text 34"/>
          <p:cNvSpPr/>
          <p:nvPr/>
        </p:nvSpPr>
        <p:spPr>
          <a:xfrm>
            <a:off x="6583680" y="3866083"/>
            <a:ext cx="1737360" cy="283464"/>
          </a:xfrm>
          <a:prstGeom prst="rect">
            <a:avLst/>
          </a:prstGeom>
          <a:noFill/>
          <a:ln/>
        </p:spPr>
        <p:txBody>
          <a:bodyPr wrap="square" lIns="0" tIns="0" rIns="0" bIns="0" rtlCol="0" anchor="ctr"/>
          <a:lstStyle/>
          <a:p>
            <a:pPr marL="0" indent="0" algn="ctr">
              <a:buNone/>
            </a:pPr>
            <a:r>
              <a:rPr lang="en-US" sz="900" dirty="0">
                <a:solidFill>
                  <a:srgbClr val="475569"/>
                </a:solidFill>
              </a:rPr>
              <a:t>3-year value</a:t>
            </a:r>
            <a:endParaRPr lang="en-US" sz="900" dirty="0"/>
          </a:p>
        </p:txBody>
      </p:sp>
      <p:sp>
        <p:nvSpPr>
          <p:cNvPr id="37" name="Text 35"/>
          <p:cNvSpPr/>
          <p:nvPr/>
        </p:nvSpPr>
        <p:spPr>
          <a:xfrm>
            <a:off x="320040" y="4617720"/>
            <a:ext cx="8412480" cy="256032"/>
          </a:xfrm>
          <a:prstGeom prst="rect">
            <a:avLst/>
          </a:prstGeom>
          <a:noFill/>
          <a:ln/>
        </p:spPr>
        <p:txBody>
          <a:bodyPr wrap="square" lIns="0" tIns="0" rIns="0" bIns="0" rtlCol="0" anchor="ctr"/>
          <a:lstStyle/>
          <a:p>
            <a:pPr marL="0" indent="0" algn="ctr">
              <a:buNone/>
            </a:pPr>
            <a:r>
              <a:rPr lang="en-US" sz="900" i="1" dirty="0">
                <a:solidFill>
                  <a:srgbClr val="475569"/>
                </a:solidFill>
              </a:rPr>
              <a:t>Data covers January 2022 – December 2024  |  Tools: Excel · MySQL · Power BI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REVENUE PERFORMANCE</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800" b="1" dirty="0">
                <a:solidFill>
                  <a:srgbClr val="0A2540"/>
                </a:solidFill>
                <a:latin typeface="Cambria" pitchFamily="34" charset="0"/>
                <a:ea typeface="Cambria" pitchFamily="34" charset="-122"/>
                <a:cs typeface="Cambria" pitchFamily="34" charset="-120"/>
              </a:rPr>
              <a:t>Revenue Grew in 2023, Then Declined in 2024</a:t>
            </a:r>
            <a:endParaRPr lang="en-US" sz="2800" dirty="0"/>
          </a:p>
        </p:txBody>
      </p:sp>
      <p:graphicFrame>
        <p:nvGraphicFramePr>
          <p:cNvPr id="5" name="Chart 0"/>
          <p:cNvGraphicFramePr/>
          <p:nvPr/>
        </p:nvGraphicFramePr>
        <p:xfrm>
          <a:off x="365760" y="118872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94960" y="1188720"/>
            <a:ext cx="3383280" cy="868680"/>
          </a:xfrm>
          <a:prstGeom prst="roundRect">
            <a:avLst>
              <a:gd name="adj" fmla="val 10526"/>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7" name="Text 4"/>
          <p:cNvSpPr/>
          <p:nvPr/>
        </p:nvSpPr>
        <p:spPr>
          <a:xfrm>
            <a:off x="5532120" y="1234440"/>
            <a:ext cx="1097280" cy="777240"/>
          </a:xfrm>
          <a:prstGeom prst="rect">
            <a:avLst/>
          </a:prstGeom>
          <a:noFill/>
          <a:ln/>
        </p:spPr>
        <p:txBody>
          <a:bodyPr wrap="square" lIns="0" tIns="0" rIns="0" bIns="0" rtlCol="0" anchor="ctr"/>
          <a:lstStyle/>
          <a:p>
            <a:pPr marL="0" indent="0" algn="ctr">
              <a:buNone/>
            </a:pPr>
            <a:r>
              <a:rPr lang="en-US" sz="2400" b="1" dirty="0">
                <a:solidFill>
                  <a:srgbClr val="0D9488"/>
                </a:solidFill>
                <a:latin typeface="Cambria" pitchFamily="34" charset="0"/>
                <a:ea typeface="Cambria" pitchFamily="34" charset="-122"/>
                <a:cs typeface="Cambria" pitchFamily="34" charset="-120"/>
              </a:rPr>
              <a:t>+13.9%</a:t>
            </a:r>
            <a:endParaRPr lang="en-US" sz="2400" dirty="0"/>
          </a:p>
        </p:txBody>
      </p:sp>
      <p:sp>
        <p:nvSpPr>
          <p:cNvPr id="8" name="Text 5"/>
          <p:cNvSpPr/>
          <p:nvPr/>
        </p:nvSpPr>
        <p:spPr>
          <a:xfrm>
            <a:off x="6675120" y="1261872"/>
            <a:ext cx="1920240" cy="731520"/>
          </a:xfrm>
          <a:prstGeom prst="rect">
            <a:avLst/>
          </a:prstGeom>
          <a:noFill/>
          <a:ln/>
        </p:spPr>
        <p:txBody>
          <a:bodyPr wrap="square" lIns="0" tIns="0" rIns="0" bIns="0" rtlCol="0" anchor="ctr"/>
          <a:lstStyle/>
          <a:p>
            <a:pPr marL="0" indent="0">
              <a:buNone/>
            </a:pPr>
            <a:r>
              <a:rPr lang="en-US" sz="1100" b="1" dirty="0">
                <a:solidFill>
                  <a:srgbClr val="1E293B"/>
                </a:solidFill>
              </a:rPr>
              <a:t>2022 → 2023
</a:t>
            </a:r>
            <a:r>
              <a:rPr lang="en-US" sz="1000" dirty="0">
                <a:solidFill>
                  <a:srgbClr val="475569"/>
                </a:solidFill>
              </a:rPr>
              <a:t>Strongest growth year</a:t>
            </a:r>
            <a:endParaRPr lang="en-US" sz="1100" dirty="0"/>
          </a:p>
        </p:txBody>
      </p:sp>
      <p:sp>
        <p:nvSpPr>
          <p:cNvPr id="9" name="Shape 6"/>
          <p:cNvSpPr/>
          <p:nvPr/>
        </p:nvSpPr>
        <p:spPr>
          <a:xfrm>
            <a:off x="5394960" y="2286000"/>
            <a:ext cx="3383280" cy="868680"/>
          </a:xfrm>
          <a:prstGeom prst="roundRect">
            <a:avLst>
              <a:gd name="adj" fmla="val 10526"/>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0" name="Text 7"/>
          <p:cNvSpPr/>
          <p:nvPr/>
        </p:nvSpPr>
        <p:spPr>
          <a:xfrm>
            <a:off x="5532120" y="2331720"/>
            <a:ext cx="1097280" cy="777240"/>
          </a:xfrm>
          <a:prstGeom prst="rect">
            <a:avLst/>
          </a:prstGeom>
          <a:noFill/>
          <a:ln/>
        </p:spPr>
        <p:txBody>
          <a:bodyPr wrap="square" lIns="0" tIns="0" rIns="0" bIns="0" rtlCol="0" anchor="ctr"/>
          <a:lstStyle/>
          <a:p>
            <a:pPr marL="0" indent="0" algn="ctr">
              <a:buNone/>
            </a:pPr>
            <a:r>
              <a:rPr lang="en-US" sz="2400" b="1" dirty="0">
                <a:solidFill>
                  <a:srgbClr val="D97706"/>
                </a:solidFill>
                <a:latin typeface="Cambria" pitchFamily="34" charset="0"/>
                <a:ea typeface="Cambria" pitchFamily="34" charset="-122"/>
                <a:cs typeface="Cambria" pitchFamily="34" charset="-120"/>
              </a:rPr>
              <a:t>-5.6%</a:t>
            </a:r>
            <a:endParaRPr lang="en-US" sz="2400" dirty="0"/>
          </a:p>
        </p:txBody>
      </p:sp>
      <p:sp>
        <p:nvSpPr>
          <p:cNvPr id="11" name="Text 8"/>
          <p:cNvSpPr/>
          <p:nvPr/>
        </p:nvSpPr>
        <p:spPr>
          <a:xfrm>
            <a:off x="6675120" y="2359152"/>
            <a:ext cx="1920240" cy="731520"/>
          </a:xfrm>
          <a:prstGeom prst="rect">
            <a:avLst/>
          </a:prstGeom>
          <a:noFill/>
          <a:ln/>
        </p:spPr>
        <p:txBody>
          <a:bodyPr wrap="square" lIns="0" tIns="0" rIns="0" bIns="0" rtlCol="0" anchor="ctr"/>
          <a:lstStyle/>
          <a:p>
            <a:pPr marL="0" indent="0">
              <a:buNone/>
            </a:pPr>
            <a:r>
              <a:rPr lang="en-US" sz="1100" b="1" dirty="0">
                <a:solidFill>
                  <a:srgbClr val="1E293B"/>
                </a:solidFill>
              </a:rPr>
              <a:t>2023 → 2024
</a:t>
            </a:r>
            <a:r>
              <a:rPr lang="en-US" sz="1000" dirty="0">
                <a:solidFill>
                  <a:srgbClr val="475569"/>
                </a:solidFill>
              </a:rPr>
              <a:t>Revenue declined from peak</a:t>
            </a:r>
            <a:endParaRPr lang="en-US" sz="1100" dirty="0"/>
          </a:p>
        </p:txBody>
      </p:sp>
      <p:sp>
        <p:nvSpPr>
          <p:cNvPr id="12" name="Shape 9"/>
          <p:cNvSpPr/>
          <p:nvPr/>
        </p:nvSpPr>
        <p:spPr>
          <a:xfrm>
            <a:off x="5394960" y="3383280"/>
            <a:ext cx="3383280" cy="868680"/>
          </a:xfrm>
          <a:prstGeom prst="roundRect">
            <a:avLst>
              <a:gd name="adj" fmla="val 10526"/>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3" name="Text 10"/>
          <p:cNvSpPr/>
          <p:nvPr/>
        </p:nvSpPr>
        <p:spPr>
          <a:xfrm>
            <a:off x="5532120" y="3429000"/>
            <a:ext cx="1097280" cy="777240"/>
          </a:xfrm>
          <a:prstGeom prst="rect">
            <a:avLst/>
          </a:prstGeom>
          <a:noFill/>
          <a:ln/>
        </p:spPr>
        <p:txBody>
          <a:bodyPr wrap="square" lIns="0" tIns="0" rIns="0" bIns="0" rtlCol="0" anchor="ctr"/>
          <a:lstStyle/>
          <a:p>
            <a:pPr marL="0" indent="0" algn="ctr">
              <a:buNone/>
            </a:pPr>
            <a:r>
              <a:rPr lang="en-US" sz="2400" b="1" dirty="0">
                <a:solidFill>
                  <a:srgbClr val="0D9488"/>
                </a:solidFill>
                <a:latin typeface="Cambria" pitchFamily="34" charset="0"/>
                <a:ea typeface="Cambria" pitchFamily="34" charset="-122"/>
                <a:cs typeface="Cambria" pitchFamily="34" charset="-120"/>
              </a:rPr>
              <a:t>74–75%</a:t>
            </a:r>
            <a:endParaRPr lang="en-US" sz="2400" dirty="0"/>
          </a:p>
        </p:txBody>
      </p:sp>
      <p:sp>
        <p:nvSpPr>
          <p:cNvPr id="14" name="Text 11"/>
          <p:cNvSpPr/>
          <p:nvPr/>
        </p:nvSpPr>
        <p:spPr>
          <a:xfrm>
            <a:off x="6675120" y="3456432"/>
            <a:ext cx="1920240" cy="731520"/>
          </a:xfrm>
          <a:prstGeom prst="rect">
            <a:avLst/>
          </a:prstGeom>
          <a:noFill/>
          <a:ln/>
        </p:spPr>
        <p:txBody>
          <a:bodyPr wrap="square" lIns="0" tIns="0" rIns="0" bIns="0" rtlCol="0" anchor="ctr"/>
          <a:lstStyle/>
          <a:p>
            <a:pPr marL="0" indent="0">
              <a:buNone/>
            </a:pPr>
            <a:r>
              <a:rPr lang="en-US" sz="1100" b="1" dirty="0">
                <a:solidFill>
                  <a:srgbClr val="1E293B"/>
                </a:solidFill>
              </a:rPr>
              <a:t>Profit Margin
</a:t>
            </a:r>
            <a:r>
              <a:rPr lang="en-US" sz="1000" dirty="0">
                <a:solidFill>
                  <a:srgbClr val="475569"/>
                </a:solidFill>
              </a:rPr>
              <a:t>Stable across all 3 years</a:t>
            </a:r>
            <a:endParaRPr lang="en-US" sz="1100" dirty="0"/>
          </a:p>
        </p:txBody>
      </p:sp>
      <p:sp>
        <p:nvSpPr>
          <p:cNvPr id="15" name="Text 12"/>
          <p:cNvSpPr/>
          <p:nvPr/>
        </p:nvSpPr>
        <p:spPr>
          <a:xfrm>
            <a:off x="365760" y="4526280"/>
            <a:ext cx="8412480" cy="411480"/>
          </a:xfrm>
          <a:prstGeom prst="rect">
            <a:avLst/>
          </a:prstGeom>
          <a:noFill/>
          <a:ln/>
        </p:spPr>
        <p:txBody>
          <a:bodyPr wrap="square" lIns="0" tIns="0" rIns="0" bIns="0" rtlCol="0" anchor="ctr"/>
          <a:lstStyle/>
          <a:p>
            <a:pPr marL="0" indent="0">
              <a:buNone/>
            </a:pPr>
            <a:r>
              <a:rPr lang="en-US" sz="1000" i="1" dirty="0">
                <a:solidFill>
                  <a:srgbClr val="475569"/>
                </a:solidFill>
              </a:rPr>
              <a:t>2023 was Verve's best year — but 2024's reversal means annual revenue is now below its own peak.</a:t>
            </a:r>
            <a:endParaRPr lang="en-US" sz="1000" dirty="0"/>
          </a:p>
          <a:p>
            <a:pPr marL="0" indent="0">
              <a:buNone/>
            </a:pPr>
            <a:r>
              <a:rPr lang="en-US" sz="1000" i="1" dirty="0">
                <a:solidFill>
                  <a:srgbClr val="475569"/>
                </a:solidFill>
              </a:rPr>
              <a:t>The question heading into 2025 is whether 2024 was a temporary dip or the start of a downward trend.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PROBLEM 1 · RETURNS</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800" b="1" dirty="0">
                <a:solidFill>
                  <a:srgbClr val="0A2540"/>
                </a:solidFill>
                <a:latin typeface="Cambria" pitchFamily="34" charset="0"/>
                <a:ea typeface="Cambria" pitchFamily="34" charset="-122"/>
                <a:cs typeface="Cambria" pitchFamily="34" charset="-120"/>
              </a:rPr>
              <a:t>Returns Are Costing Verve $385K Across All Categories</a:t>
            </a:r>
            <a:endParaRPr lang="en-US" sz="2800" dirty="0"/>
          </a:p>
        </p:txBody>
      </p:sp>
      <p:sp>
        <p:nvSpPr>
          <p:cNvPr id="5" name="Shape 3"/>
          <p:cNvSpPr/>
          <p:nvPr/>
        </p:nvSpPr>
        <p:spPr>
          <a:xfrm>
            <a:off x="320040" y="1234440"/>
            <a:ext cx="2743200" cy="3291840"/>
          </a:xfrm>
          <a:prstGeom prst="roundRect">
            <a:avLst>
              <a:gd name="adj" fmla="val 4667"/>
            </a:avLst>
          </a:prstGeom>
          <a:solidFill>
            <a:srgbClr val="0A2540"/>
          </a:solidFill>
          <a:ln w="12700">
            <a:solidFill>
              <a:srgbClr val="0A2540"/>
            </a:solidFill>
            <a:prstDash val="solid"/>
          </a:ln>
        </p:spPr>
        <p:txBody>
          <a:bodyPr/>
          <a:lstStyle/>
          <a:p>
            <a:endParaRPr lang="en-AE"/>
          </a:p>
        </p:txBody>
      </p:sp>
      <p:sp>
        <p:nvSpPr>
          <p:cNvPr id="6" name="Text 4"/>
          <p:cNvSpPr/>
          <p:nvPr/>
        </p:nvSpPr>
        <p:spPr>
          <a:xfrm>
            <a:off x="320040" y="1417320"/>
            <a:ext cx="2743200" cy="1005840"/>
          </a:xfrm>
          <a:prstGeom prst="rect">
            <a:avLst/>
          </a:prstGeom>
          <a:noFill/>
          <a:ln/>
        </p:spPr>
        <p:txBody>
          <a:bodyPr wrap="square" lIns="0" tIns="0" rIns="0" bIns="0" rtlCol="0" anchor="ctr"/>
          <a:lstStyle/>
          <a:p>
            <a:pPr marL="0" indent="0" algn="ctr">
              <a:buNone/>
            </a:pPr>
            <a:r>
              <a:rPr lang="en-US" sz="5200" b="1">
                <a:solidFill>
                  <a:srgbClr val="FFFFFF"/>
                </a:solidFill>
                <a:latin typeface="Cambria" pitchFamily="34" charset="0"/>
                <a:ea typeface="Cambria" pitchFamily="34" charset="-122"/>
                <a:cs typeface="Cambria" pitchFamily="34" charset="-120"/>
              </a:rPr>
              <a:t>18%</a:t>
            </a:r>
            <a:endParaRPr lang="en-US" sz="5200" dirty="0"/>
          </a:p>
        </p:txBody>
      </p:sp>
      <p:sp>
        <p:nvSpPr>
          <p:cNvPr id="7" name="Text 5"/>
          <p:cNvSpPr/>
          <p:nvPr/>
        </p:nvSpPr>
        <p:spPr>
          <a:xfrm>
            <a:off x="320040" y="2423160"/>
            <a:ext cx="2743200" cy="548640"/>
          </a:xfrm>
          <a:prstGeom prst="rect">
            <a:avLst/>
          </a:prstGeom>
          <a:noFill/>
          <a:ln/>
        </p:spPr>
        <p:txBody>
          <a:bodyPr wrap="square" lIns="0" tIns="0" rIns="0" bIns="0" rtlCol="0" anchor="ctr"/>
          <a:lstStyle/>
          <a:p>
            <a:pPr marL="0" indent="0" algn="ctr">
              <a:buNone/>
            </a:pPr>
            <a:r>
              <a:rPr lang="en-US" sz="1100" dirty="0">
                <a:solidFill>
                  <a:srgbClr val="CADCFC"/>
                </a:solidFill>
              </a:rPr>
              <a:t>Overall Return Rate</a:t>
            </a:r>
            <a:endParaRPr lang="en-US" sz="1100" dirty="0"/>
          </a:p>
          <a:p>
            <a:pPr marL="0" indent="0" algn="ctr">
              <a:buNone/>
            </a:pPr>
            <a:r>
              <a:rPr lang="en-US" sz="1100" dirty="0">
                <a:solidFill>
                  <a:srgbClr val="CADCFC"/>
                </a:solidFill>
              </a:rPr>
              <a:t>(3-year average)</a:t>
            </a:r>
            <a:endParaRPr lang="en-US" sz="1100" dirty="0"/>
          </a:p>
        </p:txBody>
      </p:sp>
      <p:sp>
        <p:nvSpPr>
          <p:cNvPr id="8" name="Text 6"/>
          <p:cNvSpPr/>
          <p:nvPr/>
        </p:nvSpPr>
        <p:spPr>
          <a:xfrm>
            <a:off x="320040" y="3108960"/>
            <a:ext cx="2743200" cy="640080"/>
          </a:xfrm>
          <a:prstGeom prst="rect">
            <a:avLst/>
          </a:prstGeom>
          <a:noFill/>
          <a:ln/>
        </p:spPr>
        <p:txBody>
          <a:bodyPr wrap="square" lIns="0" tIns="0" rIns="0" bIns="0" rtlCol="0" anchor="ctr"/>
          <a:lstStyle/>
          <a:p>
            <a:pPr marL="0" indent="0" algn="ctr">
              <a:buNone/>
            </a:pPr>
            <a:r>
              <a:rPr lang="en-US" sz="1400" b="1" dirty="0">
                <a:solidFill>
                  <a:srgbClr val="0D9488"/>
                </a:solidFill>
              </a:rPr>
              <a:t>$385K</a:t>
            </a:r>
            <a:endParaRPr lang="en-US" sz="1400" dirty="0"/>
          </a:p>
          <a:p>
            <a:pPr marL="0" indent="0" algn="ctr">
              <a:buNone/>
            </a:pPr>
            <a:r>
              <a:rPr lang="en-US" sz="1400" b="1" dirty="0">
                <a:solidFill>
                  <a:srgbClr val="0D9488"/>
                </a:solidFill>
              </a:rPr>
              <a:t>Total Refund Cost</a:t>
            </a:r>
            <a:endParaRPr lang="en-US" sz="1400" dirty="0"/>
          </a:p>
        </p:txBody>
      </p:sp>
      <p:sp>
        <p:nvSpPr>
          <p:cNvPr id="9" name="Text 7"/>
          <p:cNvSpPr/>
          <p:nvPr/>
        </p:nvSpPr>
        <p:spPr>
          <a:xfrm>
            <a:off x="320040" y="3840480"/>
            <a:ext cx="2743200" cy="548640"/>
          </a:xfrm>
          <a:prstGeom prst="rect">
            <a:avLst/>
          </a:prstGeom>
          <a:noFill/>
          <a:ln/>
        </p:spPr>
        <p:txBody>
          <a:bodyPr wrap="square" lIns="0" tIns="0" rIns="0" bIns="0" rtlCol="0" anchor="ctr"/>
          <a:lstStyle/>
          <a:p>
            <a:pPr marL="0" indent="0" algn="ctr">
              <a:buNone/>
            </a:pPr>
            <a:r>
              <a:rPr lang="en-US" sz="1000" dirty="0">
                <a:solidFill>
                  <a:srgbClr val="7FB3D3"/>
                </a:solidFill>
              </a:rPr>
              <a:t>Refunds = 22% of</a:t>
            </a:r>
            <a:endParaRPr lang="en-US" sz="1000" dirty="0"/>
          </a:p>
          <a:p>
            <a:pPr marL="0" indent="0" algn="ctr">
              <a:buNone/>
            </a:pPr>
            <a:r>
              <a:rPr lang="en-US" sz="1000" dirty="0">
                <a:solidFill>
                  <a:srgbClr val="7FB3D3"/>
                </a:solidFill>
              </a:rPr>
              <a:t>potential revenue</a:t>
            </a:r>
            <a:endParaRPr lang="en-US" sz="1000" dirty="0"/>
          </a:p>
        </p:txBody>
      </p:sp>
      <p:graphicFrame>
        <p:nvGraphicFramePr>
          <p:cNvPr id="10" name="Chart 0"/>
          <p:cNvGraphicFramePr/>
          <p:nvPr/>
        </p:nvGraphicFramePr>
        <p:xfrm>
          <a:off x="3246120" y="1188720"/>
          <a:ext cx="55778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320040" y="4526280"/>
            <a:ext cx="8412480" cy="365760"/>
          </a:xfrm>
          <a:prstGeom prst="rect">
            <a:avLst/>
          </a:prstGeom>
          <a:noFill/>
          <a:ln/>
        </p:spPr>
        <p:txBody>
          <a:bodyPr wrap="square" lIns="0" tIns="0" rIns="0" bIns="0" rtlCol="0" anchor="ctr"/>
          <a:lstStyle/>
          <a:p>
            <a:pPr marL="0" indent="0">
              <a:buNone/>
            </a:pPr>
            <a:r>
              <a:rPr lang="en-US" sz="1000" i="1" dirty="0">
                <a:solidFill>
                  <a:srgbClr val="475569"/>
                </a:solidFill>
              </a:rPr>
              <a:t>No single dominant cause — returns are spread evenly across 9 reasons, pointing to a broad operational challenge across logistics, quality, and pricing.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PROBLEM 1 · RETURNS</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800" b="1" dirty="0">
                <a:solidFill>
                  <a:srgbClr val="0A2540"/>
                </a:solidFill>
                <a:latin typeface="Cambria" pitchFamily="34" charset="0"/>
                <a:ea typeface="Cambria" pitchFamily="34" charset="-122"/>
                <a:cs typeface="Cambria" pitchFamily="34" charset="-120"/>
              </a:rPr>
              <a:t>Electronics Alone Lost $164K — Nearly 1 in 5 Dollars</a:t>
            </a:r>
            <a:endParaRPr lang="en-US" sz="2800" dirty="0"/>
          </a:p>
        </p:txBody>
      </p:sp>
      <p:sp>
        <p:nvSpPr>
          <p:cNvPr id="5" name="Shape 3"/>
          <p:cNvSpPr/>
          <p:nvPr/>
        </p:nvSpPr>
        <p:spPr>
          <a:xfrm>
            <a:off x="320040" y="1234440"/>
            <a:ext cx="8412480" cy="594360"/>
          </a:xfrm>
          <a:prstGeom prst="roundRect">
            <a:avLst>
              <a:gd name="adj" fmla="val 12308"/>
            </a:avLst>
          </a:prstGeom>
          <a:solidFill>
            <a:srgbClr val="FEF2F2"/>
          </a:solidFill>
          <a:ln w="12700">
            <a:solidFill>
              <a:srgbClr val="E2E8F0"/>
            </a:solidFill>
            <a:prstDash val="solid"/>
          </a:ln>
        </p:spPr>
        <p:txBody>
          <a:bodyPr/>
          <a:lstStyle/>
          <a:p>
            <a:endParaRPr lang="en-AE"/>
          </a:p>
        </p:txBody>
      </p:sp>
      <p:sp>
        <p:nvSpPr>
          <p:cNvPr id="6" name="Text 4"/>
          <p:cNvSpPr/>
          <p:nvPr/>
        </p:nvSpPr>
        <p:spPr>
          <a:xfrm>
            <a:off x="502920" y="1344168"/>
            <a:ext cx="1828800" cy="365760"/>
          </a:xfrm>
          <a:prstGeom prst="rect">
            <a:avLst/>
          </a:prstGeom>
          <a:noFill/>
          <a:ln/>
        </p:spPr>
        <p:txBody>
          <a:bodyPr wrap="square" lIns="0" tIns="0" rIns="0" bIns="0" rtlCol="0" anchor="ctr"/>
          <a:lstStyle/>
          <a:p>
            <a:pPr marL="0" indent="0">
              <a:buNone/>
            </a:pPr>
            <a:r>
              <a:rPr lang="en-US" sz="1100" b="1" dirty="0">
                <a:solidFill>
                  <a:srgbClr val="1E293B"/>
                </a:solidFill>
              </a:rPr>
              <a:t>Electronics</a:t>
            </a:r>
            <a:endParaRPr lang="en-US" sz="1100" dirty="0"/>
          </a:p>
        </p:txBody>
      </p:sp>
      <p:sp>
        <p:nvSpPr>
          <p:cNvPr id="7" name="Shape 5"/>
          <p:cNvSpPr/>
          <p:nvPr/>
        </p:nvSpPr>
        <p:spPr>
          <a:xfrm>
            <a:off x="2468880" y="1380744"/>
            <a:ext cx="5303520" cy="292608"/>
          </a:xfrm>
          <a:prstGeom prst="roundRect">
            <a:avLst>
              <a:gd name="adj" fmla="val 15625"/>
            </a:avLst>
          </a:prstGeom>
          <a:solidFill>
            <a:srgbClr val="DC2626"/>
          </a:solidFill>
          <a:ln w="12700">
            <a:solidFill>
              <a:srgbClr val="DC2626"/>
            </a:solidFill>
            <a:prstDash val="solid"/>
          </a:ln>
        </p:spPr>
        <p:txBody>
          <a:bodyPr/>
          <a:lstStyle/>
          <a:p>
            <a:endParaRPr lang="en-AE"/>
          </a:p>
        </p:txBody>
      </p:sp>
      <p:sp>
        <p:nvSpPr>
          <p:cNvPr id="8" name="Text 6"/>
          <p:cNvSpPr/>
          <p:nvPr/>
        </p:nvSpPr>
        <p:spPr>
          <a:xfrm>
            <a:off x="7863840" y="1344168"/>
            <a:ext cx="914400" cy="365760"/>
          </a:xfrm>
          <a:prstGeom prst="rect">
            <a:avLst/>
          </a:prstGeom>
          <a:noFill/>
          <a:ln/>
        </p:spPr>
        <p:txBody>
          <a:bodyPr wrap="square" lIns="0" tIns="0" rIns="0" bIns="0" rtlCol="0" anchor="ctr"/>
          <a:lstStyle/>
          <a:p>
            <a:pPr marL="0" indent="0">
              <a:buNone/>
            </a:pPr>
            <a:r>
              <a:rPr lang="en-US" sz="1100" b="1" dirty="0">
                <a:solidFill>
                  <a:srgbClr val="DC2626"/>
                </a:solidFill>
              </a:rPr>
              <a:t>$164K</a:t>
            </a:r>
            <a:endParaRPr lang="en-US" sz="1100" dirty="0"/>
          </a:p>
        </p:txBody>
      </p:sp>
      <p:sp>
        <p:nvSpPr>
          <p:cNvPr id="9" name="Text 7"/>
          <p:cNvSpPr/>
          <p:nvPr/>
        </p:nvSpPr>
        <p:spPr>
          <a:xfrm>
            <a:off x="7406640" y="1344168"/>
            <a:ext cx="1234440" cy="365760"/>
          </a:xfrm>
          <a:prstGeom prst="rect">
            <a:avLst/>
          </a:prstGeom>
          <a:noFill/>
          <a:ln/>
        </p:spPr>
        <p:txBody>
          <a:bodyPr wrap="square" lIns="0" tIns="0" rIns="0" bIns="0" rtlCol="0" anchor="ctr"/>
          <a:lstStyle/>
          <a:p>
            <a:pPr marL="0" indent="0" algn="r">
              <a:buNone/>
            </a:pPr>
            <a:r>
              <a:rPr lang="en-US" sz="900" dirty="0">
                <a:solidFill>
                  <a:srgbClr val="475569"/>
                </a:solidFill>
              </a:rPr>
              <a:t>18.7% of potential revenue</a:t>
            </a:r>
            <a:endParaRPr lang="en-US" sz="900" dirty="0"/>
          </a:p>
        </p:txBody>
      </p:sp>
      <p:sp>
        <p:nvSpPr>
          <p:cNvPr id="10" name="Shape 8"/>
          <p:cNvSpPr/>
          <p:nvPr/>
        </p:nvSpPr>
        <p:spPr>
          <a:xfrm>
            <a:off x="320040" y="1947672"/>
            <a:ext cx="8412480" cy="594360"/>
          </a:xfrm>
          <a:prstGeom prst="roundRect">
            <a:avLst>
              <a:gd name="adj" fmla="val 12308"/>
            </a:avLst>
          </a:prstGeom>
          <a:solidFill>
            <a:srgbClr val="FFFBEB"/>
          </a:solidFill>
          <a:ln w="12700">
            <a:solidFill>
              <a:srgbClr val="E2E8F0"/>
            </a:solidFill>
            <a:prstDash val="solid"/>
          </a:ln>
        </p:spPr>
        <p:txBody>
          <a:bodyPr/>
          <a:lstStyle/>
          <a:p>
            <a:endParaRPr lang="en-AE"/>
          </a:p>
        </p:txBody>
      </p:sp>
      <p:sp>
        <p:nvSpPr>
          <p:cNvPr id="11" name="Text 9"/>
          <p:cNvSpPr/>
          <p:nvPr/>
        </p:nvSpPr>
        <p:spPr>
          <a:xfrm>
            <a:off x="502920" y="2057400"/>
            <a:ext cx="1828800" cy="365760"/>
          </a:xfrm>
          <a:prstGeom prst="rect">
            <a:avLst/>
          </a:prstGeom>
          <a:noFill/>
          <a:ln/>
        </p:spPr>
        <p:txBody>
          <a:bodyPr wrap="square" lIns="0" tIns="0" rIns="0" bIns="0" rtlCol="0" anchor="ctr"/>
          <a:lstStyle/>
          <a:p>
            <a:pPr marL="0" indent="0">
              <a:buNone/>
            </a:pPr>
            <a:r>
              <a:rPr lang="en-US" sz="1100" dirty="0">
                <a:solidFill>
                  <a:srgbClr val="1E293B"/>
                </a:solidFill>
              </a:rPr>
              <a:t>Home &amp; Kitchen</a:t>
            </a:r>
            <a:endParaRPr lang="en-US" sz="1100" dirty="0"/>
          </a:p>
        </p:txBody>
      </p:sp>
      <p:sp>
        <p:nvSpPr>
          <p:cNvPr id="12" name="Shape 10"/>
          <p:cNvSpPr/>
          <p:nvPr/>
        </p:nvSpPr>
        <p:spPr>
          <a:xfrm>
            <a:off x="2468880" y="2093976"/>
            <a:ext cx="2490067" cy="292608"/>
          </a:xfrm>
          <a:prstGeom prst="roundRect">
            <a:avLst>
              <a:gd name="adj" fmla="val 15625"/>
            </a:avLst>
          </a:prstGeom>
          <a:solidFill>
            <a:srgbClr val="D97706"/>
          </a:solidFill>
          <a:ln w="12700">
            <a:solidFill>
              <a:srgbClr val="D97706"/>
            </a:solidFill>
            <a:prstDash val="solid"/>
          </a:ln>
        </p:spPr>
        <p:txBody>
          <a:bodyPr/>
          <a:lstStyle/>
          <a:p>
            <a:endParaRPr lang="en-AE"/>
          </a:p>
        </p:txBody>
      </p:sp>
      <p:sp>
        <p:nvSpPr>
          <p:cNvPr id="13" name="Text 11"/>
          <p:cNvSpPr/>
          <p:nvPr/>
        </p:nvSpPr>
        <p:spPr>
          <a:xfrm>
            <a:off x="5050387" y="2057400"/>
            <a:ext cx="914400" cy="365760"/>
          </a:xfrm>
          <a:prstGeom prst="rect">
            <a:avLst/>
          </a:prstGeom>
          <a:noFill/>
          <a:ln/>
        </p:spPr>
        <p:txBody>
          <a:bodyPr wrap="square" lIns="0" tIns="0" rIns="0" bIns="0" rtlCol="0" anchor="ctr"/>
          <a:lstStyle/>
          <a:p>
            <a:pPr marL="0" indent="0">
              <a:buNone/>
            </a:pPr>
            <a:r>
              <a:rPr lang="en-US" sz="1100" b="1" dirty="0">
                <a:solidFill>
                  <a:srgbClr val="D97706"/>
                </a:solidFill>
              </a:rPr>
              <a:t>$77K</a:t>
            </a:r>
            <a:endParaRPr lang="en-US" sz="1100" dirty="0"/>
          </a:p>
        </p:txBody>
      </p:sp>
      <p:sp>
        <p:nvSpPr>
          <p:cNvPr id="14" name="Text 12"/>
          <p:cNvSpPr/>
          <p:nvPr/>
        </p:nvSpPr>
        <p:spPr>
          <a:xfrm>
            <a:off x="7406640" y="2057400"/>
            <a:ext cx="1234440" cy="365760"/>
          </a:xfrm>
          <a:prstGeom prst="rect">
            <a:avLst/>
          </a:prstGeom>
          <a:noFill/>
          <a:ln/>
        </p:spPr>
        <p:txBody>
          <a:bodyPr wrap="square" lIns="0" tIns="0" rIns="0" bIns="0" rtlCol="0" anchor="ctr"/>
          <a:lstStyle/>
          <a:p>
            <a:pPr marL="0" indent="0" algn="r">
              <a:buNone/>
            </a:pPr>
            <a:r>
              <a:rPr lang="en-US" sz="900" dirty="0">
                <a:solidFill>
                  <a:srgbClr val="475569"/>
                </a:solidFill>
              </a:rPr>
              <a:t>12.0% of potential revenue</a:t>
            </a:r>
            <a:endParaRPr lang="en-US" sz="900" dirty="0"/>
          </a:p>
        </p:txBody>
      </p:sp>
      <p:sp>
        <p:nvSpPr>
          <p:cNvPr id="15" name="Shape 13"/>
          <p:cNvSpPr/>
          <p:nvPr/>
        </p:nvSpPr>
        <p:spPr>
          <a:xfrm>
            <a:off x="320040" y="2660904"/>
            <a:ext cx="8412480" cy="594360"/>
          </a:xfrm>
          <a:prstGeom prst="roundRect">
            <a:avLst>
              <a:gd name="adj" fmla="val 12308"/>
            </a:avLst>
          </a:prstGeom>
          <a:solidFill>
            <a:srgbClr val="FFFBEB"/>
          </a:solidFill>
          <a:ln w="12700">
            <a:solidFill>
              <a:srgbClr val="E2E8F0"/>
            </a:solidFill>
            <a:prstDash val="solid"/>
          </a:ln>
        </p:spPr>
        <p:txBody>
          <a:bodyPr/>
          <a:lstStyle/>
          <a:p>
            <a:endParaRPr lang="en-AE"/>
          </a:p>
        </p:txBody>
      </p:sp>
      <p:sp>
        <p:nvSpPr>
          <p:cNvPr id="16" name="Text 14"/>
          <p:cNvSpPr/>
          <p:nvPr/>
        </p:nvSpPr>
        <p:spPr>
          <a:xfrm>
            <a:off x="502920" y="2770632"/>
            <a:ext cx="1828800" cy="365760"/>
          </a:xfrm>
          <a:prstGeom prst="rect">
            <a:avLst/>
          </a:prstGeom>
          <a:noFill/>
          <a:ln/>
        </p:spPr>
        <p:txBody>
          <a:bodyPr wrap="square" lIns="0" tIns="0" rIns="0" bIns="0" rtlCol="0" anchor="ctr"/>
          <a:lstStyle/>
          <a:p>
            <a:pPr marL="0" indent="0">
              <a:buNone/>
            </a:pPr>
            <a:r>
              <a:rPr lang="en-US" sz="1100" dirty="0">
                <a:solidFill>
                  <a:srgbClr val="1E293B"/>
                </a:solidFill>
              </a:rPr>
              <a:t>Sports &amp; Outdoors</a:t>
            </a:r>
            <a:endParaRPr lang="en-US" sz="1100" dirty="0"/>
          </a:p>
        </p:txBody>
      </p:sp>
      <p:sp>
        <p:nvSpPr>
          <p:cNvPr id="17" name="Shape 15"/>
          <p:cNvSpPr/>
          <p:nvPr/>
        </p:nvSpPr>
        <p:spPr>
          <a:xfrm>
            <a:off x="2468880" y="2807208"/>
            <a:ext cx="1325880" cy="292608"/>
          </a:xfrm>
          <a:prstGeom prst="roundRect">
            <a:avLst>
              <a:gd name="adj" fmla="val 15625"/>
            </a:avLst>
          </a:prstGeom>
          <a:solidFill>
            <a:srgbClr val="D97706"/>
          </a:solidFill>
          <a:ln w="12700">
            <a:solidFill>
              <a:srgbClr val="D97706"/>
            </a:solidFill>
            <a:prstDash val="solid"/>
          </a:ln>
        </p:spPr>
        <p:txBody>
          <a:bodyPr/>
          <a:lstStyle/>
          <a:p>
            <a:endParaRPr lang="en-AE"/>
          </a:p>
        </p:txBody>
      </p:sp>
      <p:sp>
        <p:nvSpPr>
          <p:cNvPr id="18" name="Text 16"/>
          <p:cNvSpPr/>
          <p:nvPr/>
        </p:nvSpPr>
        <p:spPr>
          <a:xfrm>
            <a:off x="3886200" y="2770632"/>
            <a:ext cx="914400" cy="365760"/>
          </a:xfrm>
          <a:prstGeom prst="rect">
            <a:avLst/>
          </a:prstGeom>
          <a:noFill/>
          <a:ln/>
        </p:spPr>
        <p:txBody>
          <a:bodyPr wrap="square" lIns="0" tIns="0" rIns="0" bIns="0" rtlCol="0" anchor="ctr"/>
          <a:lstStyle/>
          <a:p>
            <a:pPr marL="0" indent="0">
              <a:buNone/>
            </a:pPr>
            <a:r>
              <a:rPr lang="en-US" sz="1100" b="1" dirty="0">
                <a:solidFill>
                  <a:srgbClr val="D97706"/>
                </a:solidFill>
              </a:rPr>
              <a:t>$41K</a:t>
            </a:r>
            <a:endParaRPr lang="en-US" sz="1100" dirty="0"/>
          </a:p>
        </p:txBody>
      </p:sp>
      <p:sp>
        <p:nvSpPr>
          <p:cNvPr id="19" name="Text 17"/>
          <p:cNvSpPr/>
          <p:nvPr/>
        </p:nvSpPr>
        <p:spPr>
          <a:xfrm>
            <a:off x="7406640" y="2770632"/>
            <a:ext cx="1234440" cy="365760"/>
          </a:xfrm>
          <a:prstGeom prst="rect">
            <a:avLst/>
          </a:prstGeom>
          <a:noFill/>
          <a:ln/>
        </p:spPr>
        <p:txBody>
          <a:bodyPr wrap="square" lIns="0" tIns="0" rIns="0" bIns="0" rtlCol="0" anchor="ctr"/>
          <a:lstStyle/>
          <a:p>
            <a:pPr marL="0" indent="0" algn="r">
              <a:buNone/>
            </a:pPr>
            <a:r>
              <a:rPr lang="en-US" sz="900" dirty="0">
                <a:solidFill>
                  <a:srgbClr val="475569"/>
                </a:solidFill>
              </a:rPr>
              <a:t>13.0% of potential revenue</a:t>
            </a:r>
            <a:endParaRPr lang="en-US" sz="900" dirty="0"/>
          </a:p>
        </p:txBody>
      </p:sp>
      <p:sp>
        <p:nvSpPr>
          <p:cNvPr id="20" name="Shape 18"/>
          <p:cNvSpPr/>
          <p:nvPr/>
        </p:nvSpPr>
        <p:spPr>
          <a:xfrm>
            <a:off x="320040" y="3374136"/>
            <a:ext cx="8412480" cy="594360"/>
          </a:xfrm>
          <a:prstGeom prst="roundRect">
            <a:avLst>
              <a:gd name="adj" fmla="val 12308"/>
            </a:avLst>
          </a:prstGeom>
          <a:solidFill>
            <a:srgbClr val="F8FAFC"/>
          </a:solidFill>
          <a:ln w="12700">
            <a:solidFill>
              <a:srgbClr val="E2E8F0"/>
            </a:solidFill>
            <a:prstDash val="solid"/>
          </a:ln>
        </p:spPr>
        <p:txBody>
          <a:bodyPr/>
          <a:lstStyle/>
          <a:p>
            <a:endParaRPr lang="en-AE"/>
          </a:p>
        </p:txBody>
      </p:sp>
      <p:sp>
        <p:nvSpPr>
          <p:cNvPr id="21" name="Text 19"/>
          <p:cNvSpPr/>
          <p:nvPr/>
        </p:nvSpPr>
        <p:spPr>
          <a:xfrm>
            <a:off x="502920" y="3483864"/>
            <a:ext cx="1828800" cy="365760"/>
          </a:xfrm>
          <a:prstGeom prst="rect">
            <a:avLst/>
          </a:prstGeom>
          <a:noFill/>
          <a:ln/>
        </p:spPr>
        <p:txBody>
          <a:bodyPr wrap="square" lIns="0" tIns="0" rIns="0" bIns="0" rtlCol="0" anchor="ctr"/>
          <a:lstStyle/>
          <a:p>
            <a:pPr marL="0" indent="0">
              <a:buNone/>
            </a:pPr>
            <a:r>
              <a:rPr lang="en-US" sz="1100" dirty="0">
                <a:solidFill>
                  <a:srgbClr val="1E293B"/>
                </a:solidFill>
              </a:rPr>
              <a:t>Clothing</a:t>
            </a:r>
            <a:endParaRPr lang="en-US" sz="1100" dirty="0"/>
          </a:p>
        </p:txBody>
      </p:sp>
      <p:sp>
        <p:nvSpPr>
          <p:cNvPr id="22" name="Shape 20"/>
          <p:cNvSpPr/>
          <p:nvPr/>
        </p:nvSpPr>
        <p:spPr>
          <a:xfrm>
            <a:off x="2468880" y="3520440"/>
            <a:ext cx="2037328" cy="292608"/>
          </a:xfrm>
          <a:prstGeom prst="roundRect">
            <a:avLst>
              <a:gd name="adj" fmla="val 15625"/>
            </a:avLst>
          </a:prstGeom>
          <a:solidFill>
            <a:srgbClr val="475569"/>
          </a:solidFill>
          <a:ln w="12700">
            <a:solidFill>
              <a:srgbClr val="475569"/>
            </a:solidFill>
            <a:prstDash val="solid"/>
          </a:ln>
        </p:spPr>
        <p:txBody>
          <a:bodyPr/>
          <a:lstStyle/>
          <a:p>
            <a:endParaRPr lang="en-AE"/>
          </a:p>
        </p:txBody>
      </p:sp>
      <p:sp>
        <p:nvSpPr>
          <p:cNvPr id="23" name="Text 21"/>
          <p:cNvSpPr/>
          <p:nvPr/>
        </p:nvSpPr>
        <p:spPr>
          <a:xfrm>
            <a:off x="4597648" y="3483864"/>
            <a:ext cx="914400" cy="365760"/>
          </a:xfrm>
          <a:prstGeom prst="rect">
            <a:avLst/>
          </a:prstGeom>
          <a:noFill/>
          <a:ln/>
        </p:spPr>
        <p:txBody>
          <a:bodyPr wrap="square" lIns="0" tIns="0" rIns="0" bIns="0" rtlCol="0" anchor="ctr"/>
          <a:lstStyle/>
          <a:p>
            <a:pPr marL="0" indent="0">
              <a:buNone/>
            </a:pPr>
            <a:r>
              <a:rPr lang="en-US" sz="1100" b="1" dirty="0">
                <a:solidFill>
                  <a:srgbClr val="475569"/>
                </a:solidFill>
              </a:rPr>
              <a:t>$63K</a:t>
            </a:r>
            <a:endParaRPr lang="en-US" sz="1100" dirty="0"/>
          </a:p>
        </p:txBody>
      </p:sp>
      <p:sp>
        <p:nvSpPr>
          <p:cNvPr id="24" name="Text 22"/>
          <p:cNvSpPr/>
          <p:nvPr/>
        </p:nvSpPr>
        <p:spPr>
          <a:xfrm>
            <a:off x="7406640" y="3483864"/>
            <a:ext cx="1234440" cy="365760"/>
          </a:xfrm>
          <a:prstGeom prst="rect">
            <a:avLst/>
          </a:prstGeom>
          <a:noFill/>
          <a:ln/>
        </p:spPr>
        <p:txBody>
          <a:bodyPr wrap="square" lIns="0" tIns="0" rIns="0" bIns="0" rtlCol="0" anchor="ctr"/>
          <a:lstStyle/>
          <a:p>
            <a:pPr marL="0" indent="0" algn="r">
              <a:buNone/>
            </a:pPr>
            <a:r>
              <a:rPr lang="en-US" sz="900" dirty="0">
                <a:solidFill>
                  <a:srgbClr val="475569"/>
                </a:solidFill>
              </a:rPr>
              <a:t>~11% of potential revenue</a:t>
            </a:r>
            <a:endParaRPr lang="en-US" sz="900" dirty="0"/>
          </a:p>
        </p:txBody>
      </p:sp>
      <p:sp>
        <p:nvSpPr>
          <p:cNvPr id="25" name="Shape 23"/>
          <p:cNvSpPr/>
          <p:nvPr/>
        </p:nvSpPr>
        <p:spPr>
          <a:xfrm>
            <a:off x="320040" y="4087368"/>
            <a:ext cx="8412480" cy="594360"/>
          </a:xfrm>
          <a:prstGeom prst="roundRect">
            <a:avLst>
              <a:gd name="adj" fmla="val 12308"/>
            </a:avLst>
          </a:prstGeom>
          <a:solidFill>
            <a:srgbClr val="F8FAFC"/>
          </a:solidFill>
          <a:ln w="12700">
            <a:solidFill>
              <a:srgbClr val="E2E8F0"/>
            </a:solidFill>
            <a:prstDash val="solid"/>
          </a:ln>
        </p:spPr>
        <p:txBody>
          <a:bodyPr/>
          <a:lstStyle/>
          <a:p>
            <a:endParaRPr lang="en-AE"/>
          </a:p>
        </p:txBody>
      </p:sp>
      <p:sp>
        <p:nvSpPr>
          <p:cNvPr id="26" name="Text 24"/>
          <p:cNvSpPr/>
          <p:nvPr/>
        </p:nvSpPr>
        <p:spPr>
          <a:xfrm>
            <a:off x="502920" y="4197096"/>
            <a:ext cx="1828800" cy="365760"/>
          </a:xfrm>
          <a:prstGeom prst="rect">
            <a:avLst/>
          </a:prstGeom>
          <a:noFill/>
          <a:ln/>
        </p:spPr>
        <p:txBody>
          <a:bodyPr wrap="square" lIns="0" tIns="0" rIns="0" bIns="0" rtlCol="0" anchor="ctr"/>
          <a:lstStyle/>
          <a:p>
            <a:pPr marL="0" indent="0">
              <a:buNone/>
            </a:pPr>
            <a:r>
              <a:rPr lang="en-US" sz="1100" dirty="0">
                <a:solidFill>
                  <a:srgbClr val="1E293B"/>
                </a:solidFill>
              </a:rPr>
              <a:t>Beauty &amp; Care</a:t>
            </a:r>
            <a:endParaRPr lang="en-US" sz="1100" dirty="0"/>
          </a:p>
        </p:txBody>
      </p:sp>
      <p:sp>
        <p:nvSpPr>
          <p:cNvPr id="27" name="Shape 25"/>
          <p:cNvSpPr/>
          <p:nvPr/>
        </p:nvSpPr>
        <p:spPr>
          <a:xfrm>
            <a:off x="2468880" y="4233672"/>
            <a:ext cx="1293541" cy="292608"/>
          </a:xfrm>
          <a:prstGeom prst="roundRect">
            <a:avLst>
              <a:gd name="adj" fmla="val 15625"/>
            </a:avLst>
          </a:prstGeom>
          <a:solidFill>
            <a:srgbClr val="475569"/>
          </a:solidFill>
          <a:ln w="12700">
            <a:solidFill>
              <a:srgbClr val="475569"/>
            </a:solidFill>
            <a:prstDash val="solid"/>
          </a:ln>
        </p:spPr>
        <p:txBody>
          <a:bodyPr/>
          <a:lstStyle/>
          <a:p>
            <a:endParaRPr lang="en-AE"/>
          </a:p>
        </p:txBody>
      </p:sp>
      <p:sp>
        <p:nvSpPr>
          <p:cNvPr id="28" name="Text 26"/>
          <p:cNvSpPr/>
          <p:nvPr/>
        </p:nvSpPr>
        <p:spPr>
          <a:xfrm>
            <a:off x="3853861" y="4197096"/>
            <a:ext cx="914400" cy="365760"/>
          </a:xfrm>
          <a:prstGeom prst="rect">
            <a:avLst/>
          </a:prstGeom>
          <a:noFill/>
          <a:ln/>
        </p:spPr>
        <p:txBody>
          <a:bodyPr wrap="square" lIns="0" tIns="0" rIns="0" bIns="0" rtlCol="0" anchor="ctr"/>
          <a:lstStyle/>
          <a:p>
            <a:pPr marL="0" indent="0">
              <a:buNone/>
            </a:pPr>
            <a:r>
              <a:rPr lang="en-US" sz="1100" b="1" dirty="0">
                <a:solidFill>
                  <a:srgbClr val="475569"/>
                </a:solidFill>
              </a:rPr>
              <a:t>$40K</a:t>
            </a:r>
            <a:endParaRPr lang="en-US" sz="1100" dirty="0"/>
          </a:p>
        </p:txBody>
      </p:sp>
      <p:sp>
        <p:nvSpPr>
          <p:cNvPr id="29" name="Text 27"/>
          <p:cNvSpPr/>
          <p:nvPr/>
        </p:nvSpPr>
        <p:spPr>
          <a:xfrm>
            <a:off x="7406640" y="4197096"/>
            <a:ext cx="1234440" cy="365760"/>
          </a:xfrm>
          <a:prstGeom prst="rect">
            <a:avLst/>
          </a:prstGeom>
          <a:noFill/>
          <a:ln/>
        </p:spPr>
        <p:txBody>
          <a:bodyPr wrap="square" lIns="0" tIns="0" rIns="0" bIns="0" rtlCol="0" anchor="ctr"/>
          <a:lstStyle/>
          <a:p>
            <a:pPr marL="0" indent="0" algn="r">
              <a:buNone/>
            </a:pPr>
            <a:r>
              <a:rPr lang="en-US" sz="900" dirty="0">
                <a:solidFill>
                  <a:srgbClr val="475569"/>
                </a:solidFill>
              </a:rPr>
              <a:t>~9% of potential revenue</a:t>
            </a:r>
            <a:endParaRPr lang="en-US" sz="900" dirty="0"/>
          </a:p>
        </p:txBody>
      </p:sp>
      <p:sp>
        <p:nvSpPr>
          <p:cNvPr id="30" name="Text 28"/>
          <p:cNvSpPr/>
          <p:nvPr/>
        </p:nvSpPr>
        <p:spPr>
          <a:xfrm>
            <a:off x="320040" y="4617720"/>
            <a:ext cx="8412480" cy="320040"/>
          </a:xfrm>
          <a:prstGeom prst="rect">
            <a:avLst/>
          </a:prstGeom>
          <a:noFill/>
          <a:ln/>
        </p:spPr>
        <p:txBody>
          <a:bodyPr wrap="square" lIns="0" tIns="0" rIns="0" bIns="0" rtlCol="0" anchor="ctr"/>
          <a:lstStyle/>
          <a:p>
            <a:pPr marL="0" indent="0" algn="ctr">
              <a:buNone/>
            </a:pPr>
            <a:r>
              <a:rPr lang="en-US" sz="1000" i="1" dirty="0">
                <a:solidFill>
                  <a:srgbClr val="475569"/>
                </a:solidFill>
              </a:rPr>
              <a:t>Store types: E-Commerce 20% return rate  |  Outlet 19%  |  Standard 17%  |  Flagship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PROBLEM 2 · STORE PERFORMANCE</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800" b="1" dirty="0">
                <a:solidFill>
                  <a:srgbClr val="0A2540"/>
                </a:solidFill>
                <a:latin typeface="Cambria" pitchFamily="34" charset="0"/>
                <a:ea typeface="Cambria" pitchFamily="34" charset="-122"/>
                <a:cs typeface="Cambria" pitchFamily="34" charset="-120"/>
              </a:rPr>
              <a:t>Manhattan Flagship Leads — But 3 Stores Are Underperforming</a:t>
            </a:r>
            <a:endParaRPr lang="en-US" sz="2800" dirty="0"/>
          </a:p>
        </p:txBody>
      </p:sp>
      <p:sp>
        <p:nvSpPr>
          <p:cNvPr id="5" name="Text 3"/>
          <p:cNvSpPr/>
          <p:nvPr/>
        </p:nvSpPr>
        <p:spPr>
          <a:xfrm>
            <a:off x="320040" y="1188720"/>
            <a:ext cx="3840480" cy="347472"/>
          </a:xfrm>
          <a:prstGeom prst="rect">
            <a:avLst/>
          </a:prstGeom>
          <a:noFill/>
          <a:ln/>
        </p:spPr>
        <p:txBody>
          <a:bodyPr wrap="square" lIns="0" tIns="0" rIns="0" bIns="0" rtlCol="0" anchor="ctr"/>
          <a:lstStyle/>
          <a:p>
            <a:pPr marL="0" indent="0">
              <a:buNone/>
            </a:pPr>
            <a:r>
              <a:rPr lang="en-US" sz="1300" b="1" dirty="0">
                <a:solidFill>
                  <a:srgbClr val="0D9488"/>
                </a:solidFill>
              </a:rPr>
              <a:t>🏆  Top Performers</a:t>
            </a:r>
            <a:endParaRPr lang="en-US" sz="1300" dirty="0"/>
          </a:p>
        </p:txBody>
      </p:sp>
      <p:sp>
        <p:nvSpPr>
          <p:cNvPr id="6" name="Shape 4"/>
          <p:cNvSpPr/>
          <p:nvPr/>
        </p:nvSpPr>
        <p:spPr>
          <a:xfrm>
            <a:off x="320040" y="1572768"/>
            <a:ext cx="3840480" cy="694944"/>
          </a:xfrm>
          <a:prstGeom prst="roundRect">
            <a:avLst>
              <a:gd name="adj" fmla="val 13158"/>
            </a:avLst>
          </a:prstGeom>
          <a:solidFill>
            <a:srgbClr val="F0FDF4"/>
          </a:solidFill>
          <a:ln w="12700">
            <a:solidFill>
              <a:srgbClr val="BBF7D0"/>
            </a:solidFill>
            <a:prstDash val="solid"/>
          </a:ln>
          <a:effectLst>
            <a:outerShdw blurRad="101600" dist="38100" dir="2700000" algn="bl" rotWithShape="0">
              <a:srgbClr val="000000">
                <a:alpha val="12000"/>
              </a:srgbClr>
            </a:outerShdw>
          </a:effectLst>
        </p:spPr>
        <p:txBody>
          <a:bodyPr/>
          <a:lstStyle/>
          <a:p>
            <a:endParaRPr lang="en-AE"/>
          </a:p>
        </p:txBody>
      </p:sp>
      <p:sp>
        <p:nvSpPr>
          <p:cNvPr id="7" name="Text 5"/>
          <p:cNvSpPr/>
          <p:nvPr/>
        </p:nvSpPr>
        <p:spPr>
          <a:xfrm>
            <a:off x="502920" y="1627632"/>
            <a:ext cx="3474720" cy="274320"/>
          </a:xfrm>
          <a:prstGeom prst="rect">
            <a:avLst/>
          </a:prstGeom>
          <a:noFill/>
          <a:ln/>
        </p:spPr>
        <p:txBody>
          <a:bodyPr wrap="square" lIns="0" tIns="0" rIns="0" bIns="0" rtlCol="0" anchor="ctr"/>
          <a:lstStyle/>
          <a:p>
            <a:pPr marL="0" indent="0">
              <a:buNone/>
            </a:pPr>
            <a:r>
              <a:rPr lang="en-US" sz="1200" b="1" dirty="0">
                <a:solidFill>
                  <a:srgbClr val="0D9488"/>
                </a:solidFill>
              </a:rPr>
              <a:t>1. Manhattan Flagship</a:t>
            </a:r>
            <a:endParaRPr lang="en-US" sz="1200" dirty="0"/>
          </a:p>
        </p:txBody>
      </p:sp>
      <p:sp>
        <p:nvSpPr>
          <p:cNvPr id="8" name="Text 6"/>
          <p:cNvSpPr/>
          <p:nvPr/>
        </p:nvSpPr>
        <p:spPr>
          <a:xfrm>
            <a:off x="502920" y="1874520"/>
            <a:ext cx="3474720" cy="320040"/>
          </a:xfrm>
          <a:prstGeom prst="rect">
            <a:avLst/>
          </a:prstGeom>
          <a:noFill/>
          <a:ln/>
        </p:spPr>
        <p:txBody>
          <a:bodyPr wrap="square" lIns="0" tIns="0" rIns="0" bIns="0" rtlCol="0" anchor="ctr"/>
          <a:lstStyle/>
          <a:p>
            <a:pPr marL="0" indent="0">
              <a:buNone/>
            </a:pPr>
            <a:r>
              <a:rPr lang="en-US" sz="1000" dirty="0">
                <a:solidFill>
                  <a:srgbClr val="475569"/>
                </a:solidFill>
              </a:rPr>
              <a:t>Highest revenue &amp; profit in the network — sets the benchmark</a:t>
            </a:r>
            <a:endParaRPr lang="en-US" sz="1000" dirty="0"/>
          </a:p>
        </p:txBody>
      </p:sp>
      <p:sp>
        <p:nvSpPr>
          <p:cNvPr id="9" name="Shape 7"/>
          <p:cNvSpPr/>
          <p:nvPr/>
        </p:nvSpPr>
        <p:spPr>
          <a:xfrm>
            <a:off x="320040" y="2377440"/>
            <a:ext cx="3840480" cy="694944"/>
          </a:xfrm>
          <a:prstGeom prst="roundRect">
            <a:avLst>
              <a:gd name="adj" fmla="val 13158"/>
            </a:avLst>
          </a:prstGeom>
          <a:solidFill>
            <a:srgbClr val="F0FDF4"/>
          </a:solidFill>
          <a:ln w="12700">
            <a:solidFill>
              <a:srgbClr val="BBF7D0"/>
            </a:solidFill>
            <a:prstDash val="solid"/>
          </a:ln>
          <a:effectLst>
            <a:outerShdw blurRad="101600" dist="38100" dir="2700000" algn="bl" rotWithShape="0">
              <a:srgbClr val="000000">
                <a:alpha val="12000"/>
              </a:srgbClr>
            </a:outerShdw>
          </a:effectLst>
        </p:spPr>
        <p:txBody>
          <a:bodyPr/>
          <a:lstStyle/>
          <a:p>
            <a:endParaRPr lang="en-AE"/>
          </a:p>
        </p:txBody>
      </p:sp>
      <p:sp>
        <p:nvSpPr>
          <p:cNvPr id="10" name="Text 8"/>
          <p:cNvSpPr/>
          <p:nvPr/>
        </p:nvSpPr>
        <p:spPr>
          <a:xfrm>
            <a:off x="502920" y="2432304"/>
            <a:ext cx="3474720" cy="274320"/>
          </a:xfrm>
          <a:prstGeom prst="rect">
            <a:avLst/>
          </a:prstGeom>
          <a:noFill/>
          <a:ln/>
        </p:spPr>
        <p:txBody>
          <a:bodyPr wrap="square" lIns="0" tIns="0" rIns="0" bIns="0" rtlCol="0" anchor="ctr"/>
          <a:lstStyle/>
          <a:p>
            <a:pPr marL="0" indent="0">
              <a:buNone/>
            </a:pPr>
            <a:r>
              <a:rPr lang="en-US" sz="1200" b="1" dirty="0">
                <a:solidFill>
                  <a:srgbClr val="0D9488"/>
                </a:solidFill>
              </a:rPr>
              <a:t>2. Houston Galleria</a:t>
            </a:r>
            <a:endParaRPr lang="en-US" sz="1200" dirty="0"/>
          </a:p>
        </p:txBody>
      </p:sp>
      <p:sp>
        <p:nvSpPr>
          <p:cNvPr id="11" name="Text 9"/>
          <p:cNvSpPr/>
          <p:nvPr/>
        </p:nvSpPr>
        <p:spPr>
          <a:xfrm>
            <a:off x="502920" y="2679192"/>
            <a:ext cx="3474720" cy="320040"/>
          </a:xfrm>
          <a:prstGeom prst="rect">
            <a:avLst/>
          </a:prstGeom>
          <a:noFill/>
          <a:ln/>
        </p:spPr>
        <p:txBody>
          <a:bodyPr wrap="square" lIns="0" tIns="0" rIns="0" bIns="0" rtlCol="0" anchor="ctr"/>
          <a:lstStyle/>
          <a:p>
            <a:pPr marL="0" indent="0">
              <a:buNone/>
            </a:pPr>
            <a:r>
              <a:rPr lang="en-US" sz="1000" dirty="0">
                <a:solidFill>
                  <a:srgbClr val="475569"/>
                </a:solidFill>
              </a:rPr>
              <a:t>Consistently strong performance across all three years</a:t>
            </a:r>
            <a:endParaRPr lang="en-US" sz="1000" dirty="0"/>
          </a:p>
        </p:txBody>
      </p:sp>
      <p:sp>
        <p:nvSpPr>
          <p:cNvPr id="12" name="Shape 10"/>
          <p:cNvSpPr/>
          <p:nvPr/>
        </p:nvSpPr>
        <p:spPr>
          <a:xfrm>
            <a:off x="320040" y="3182112"/>
            <a:ext cx="3840480" cy="694944"/>
          </a:xfrm>
          <a:prstGeom prst="roundRect">
            <a:avLst>
              <a:gd name="adj" fmla="val 13158"/>
            </a:avLst>
          </a:prstGeom>
          <a:solidFill>
            <a:srgbClr val="F0FDF4"/>
          </a:solidFill>
          <a:ln w="12700">
            <a:solidFill>
              <a:srgbClr val="BBF7D0"/>
            </a:solidFill>
            <a:prstDash val="solid"/>
          </a:ln>
          <a:effectLst>
            <a:outerShdw blurRad="101600" dist="38100" dir="2700000" algn="bl" rotWithShape="0">
              <a:srgbClr val="000000">
                <a:alpha val="12000"/>
              </a:srgbClr>
            </a:outerShdw>
          </a:effectLst>
        </p:spPr>
        <p:txBody>
          <a:bodyPr/>
          <a:lstStyle/>
          <a:p>
            <a:endParaRPr lang="en-AE"/>
          </a:p>
        </p:txBody>
      </p:sp>
      <p:sp>
        <p:nvSpPr>
          <p:cNvPr id="13" name="Text 11"/>
          <p:cNvSpPr/>
          <p:nvPr/>
        </p:nvSpPr>
        <p:spPr>
          <a:xfrm>
            <a:off x="502920" y="3236976"/>
            <a:ext cx="3474720" cy="274320"/>
          </a:xfrm>
          <a:prstGeom prst="rect">
            <a:avLst/>
          </a:prstGeom>
          <a:noFill/>
          <a:ln/>
        </p:spPr>
        <p:txBody>
          <a:bodyPr wrap="square" lIns="0" tIns="0" rIns="0" bIns="0" rtlCol="0" anchor="ctr"/>
          <a:lstStyle/>
          <a:p>
            <a:pPr marL="0" indent="0">
              <a:buNone/>
            </a:pPr>
            <a:r>
              <a:rPr lang="en-US" sz="1200" b="1" dirty="0">
                <a:solidFill>
                  <a:srgbClr val="0D9488"/>
                </a:solidFill>
              </a:rPr>
              <a:t>3. LA Beverly Hills</a:t>
            </a:r>
            <a:endParaRPr lang="en-US" sz="1200" dirty="0"/>
          </a:p>
        </p:txBody>
      </p:sp>
      <p:sp>
        <p:nvSpPr>
          <p:cNvPr id="14" name="Text 12"/>
          <p:cNvSpPr/>
          <p:nvPr/>
        </p:nvSpPr>
        <p:spPr>
          <a:xfrm>
            <a:off x="502920" y="3483864"/>
            <a:ext cx="3474720" cy="320040"/>
          </a:xfrm>
          <a:prstGeom prst="rect">
            <a:avLst/>
          </a:prstGeom>
          <a:noFill/>
          <a:ln/>
        </p:spPr>
        <p:txBody>
          <a:bodyPr wrap="square" lIns="0" tIns="0" rIns="0" bIns="0" rtlCol="0" anchor="ctr"/>
          <a:lstStyle/>
          <a:p>
            <a:pPr marL="0" indent="0">
              <a:buNone/>
            </a:pPr>
            <a:r>
              <a:rPr lang="en-US" sz="1000" dirty="0">
                <a:solidFill>
                  <a:srgbClr val="475569"/>
                </a:solidFill>
              </a:rPr>
              <a:t>High revenue despite being a standard-format store</a:t>
            </a:r>
            <a:endParaRPr lang="en-US" sz="1000" dirty="0"/>
          </a:p>
        </p:txBody>
      </p:sp>
      <p:sp>
        <p:nvSpPr>
          <p:cNvPr id="15" name="Text 13"/>
          <p:cNvSpPr/>
          <p:nvPr/>
        </p:nvSpPr>
        <p:spPr>
          <a:xfrm>
            <a:off x="4663440" y="1188720"/>
            <a:ext cx="4114800" cy="347472"/>
          </a:xfrm>
          <a:prstGeom prst="rect">
            <a:avLst/>
          </a:prstGeom>
          <a:noFill/>
          <a:ln/>
        </p:spPr>
        <p:txBody>
          <a:bodyPr wrap="square" lIns="0" tIns="0" rIns="0" bIns="0" rtlCol="0" anchor="ctr"/>
          <a:lstStyle/>
          <a:p>
            <a:pPr marL="0" indent="0">
              <a:buNone/>
            </a:pPr>
            <a:r>
              <a:rPr lang="en-US" sz="1300" b="1" dirty="0">
                <a:solidFill>
                  <a:srgbClr val="DC2626"/>
                </a:solidFill>
              </a:rPr>
              <a:t>⚠️  Needs Attention</a:t>
            </a:r>
            <a:endParaRPr lang="en-US" sz="1300" dirty="0"/>
          </a:p>
        </p:txBody>
      </p:sp>
      <p:sp>
        <p:nvSpPr>
          <p:cNvPr id="16" name="Shape 14"/>
          <p:cNvSpPr/>
          <p:nvPr/>
        </p:nvSpPr>
        <p:spPr>
          <a:xfrm>
            <a:off x="4663440" y="1572768"/>
            <a:ext cx="4114800" cy="694944"/>
          </a:xfrm>
          <a:prstGeom prst="roundRect">
            <a:avLst>
              <a:gd name="adj" fmla="val 13158"/>
            </a:avLst>
          </a:prstGeom>
          <a:solidFill>
            <a:srgbClr val="FEF2F2"/>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AE"/>
          </a:p>
        </p:txBody>
      </p:sp>
      <p:sp>
        <p:nvSpPr>
          <p:cNvPr id="17" name="Text 15"/>
          <p:cNvSpPr/>
          <p:nvPr/>
        </p:nvSpPr>
        <p:spPr>
          <a:xfrm>
            <a:off x="4846320" y="1627632"/>
            <a:ext cx="3749040" cy="274320"/>
          </a:xfrm>
          <a:prstGeom prst="rect">
            <a:avLst/>
          </a:prstGeom>
          <a:noFill/>
          <a:ln/>
        </p:spPr>
        <p:txBody>
          <a:bodyPr wrap="square" lIns="0" tIns="0" rIns="0" bIns="0" rtlCol="0" anchor="ctr"/>
          <a:lstStyle/>
          <a:p>
            <a:pPr marL="0" indent="0">
              <a:buNone/>
            </a:pPr>
            <a:r>
              <a:rPr lang="en-US" sz="1200" b="1" dirty="0">
                <a:solidFill>
                  <a:srgbClr val="DC2626"/>
                </a:solidFill>
              </a:rPr>
              <a:t>Chicago Loop</a:t>
            </a:r>
            <a:endParaRPr lang="en-US" sz="1200" dirty="0"/>
          </a:p>
        </p:txBody>
      </p:sp>
      <p:sp>
        <p:nvSpPr>
          <p:cNvPr id="18" name="Text 16"/>
          <p:cNvSpPr/>
          <p:nvPr/>
        </p:nvSpPr>
        <p:spPr>
          <a:xfrm>
            <a:off x="4846320" y="1874520"/>
            <a:ext cx="3749040" cy="320040"/>
          </a:xfrm>
          <a:prstGeom prst="rect">
            <a:avLst/>
          </a:prstGeom>
          <a:noFill/>
          <a:ln/>
        </p:spPr>
        <p:txBody>
          <a:bodyPr wrap="square" lIns="0" tIns="0" rIns="0" bIns="0" rtlCol="0" anchor="ctr"/>
          <a:lstStyle/>
          <a:p>
            <a:pPr marL="0" indent="0">
              <a:buNone/>
            </a:pPr>
            <a:r>
              <a:rPr lang="en-US" sz="1000" dirty="0">
                <a:solidFill>
                  <a:srgbClr val="475569"/>
                </a:solidFill>
              </a:rPr>
              <a:t>Bottom quartile by profit despite high-population city location</a:t>
            </a:r>
            <a:endParaRPr lang="en-US" sz="1000" dirty="0"/>
          </a:p>
        </p:txBody>
      </p:sp>
      <p:sp>
        <p:nvSpPr>
          <p:cNvPr id="19" name="Shape 17"/>
          <p:cNvSpPr/>
          <p:nvPr/>
        </p:nvSpPr>
        <p:spPr>
          <a:xfrm>
            <a:off x="4663440" y="2377440"/>
            <a:ext cx="4114800" cy="694944"/>
          </a:xfrm>
          <a:prstGeom prst="roundRect">
            <a:avLst>
              <a:gd name="adj" fmla="val 13158"/>
            </a:avLst>
          </a:prstGeom>
          <a:solidFill>
            <a:srgbClr val="FEF2F2"/>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AE"/>
          </a:p>
        </p:txBody>
      </p:sp>
      <p:sp>
        <p:nvSpPr>
          <p:cNvPr id="20" name="Text 18"/>
          <p:cNvSpPr/>
          <p:nvPr/>
        </p:nvSpPr>
        <p:spPr>
          <a:xfrm>
            <a:off x="4846320" y="2432304"/>
            <a:ext cx="3749040" cy="274320"/>
          </a:xfrm>
          <a:prstGeom prst="rect">
            <a:avLst/>
          </a:prstGeom>
          <a:noFill/>
          <a:ln/>
        </p:spPr>
        <p:txBody>
          <a:bodyPr wrap="square" lIns="0" tIns="0" rIns="0" bIns="0" rtlCol="0" anchor="ctr"/>
          <a:lstStyle/>
          <a:p>
            <a:pPr marL="0" indent="0">
              <a:buNone/>
            </a:pPr>
            <a:r>
              <a:rPr lang="en-US" sz="1200" b="1" dirty="0">
                <a:solidFill>
                  <a:srgbClr val="DC2626"/>
                </a:solidFill>
              </a:rPr>
              <a:t>Dallas Premium</a:t>
            </a:r>
            <a:endParaRPr lang="en-US" sz="1200" dirty="0"/>
          </a:p>
        </p:txBody>
      </p:sp>
      <p:sp>
        <p:nvSpPr>
          <p:cNvPr id="21" name="Text 19"/>
          <p:cNvSpPr/>
          <p:nvPr/>
        </p:nvSpPr>
        <p:spPr>
          <a:xfrm>
            <a:off x="4846320" y="2679192"/>
            <a:ext cx="3749040" cy="320040"/>
          </a:xfrm>
          <a:prstGeom prst="rect">
            <a:avLst/>
          </a:prstGeom>
          <a:noFill/>
          <a:ln/>
        </p:spPr>
        <p:txBody>
          <a:bodyPr wrap="square" lIns="0" tIns="0" rIns="0" bIns="0" rtlCol="0" anchor="ctr"/>
          <a:lstStyle/>
          <a:p>
            <a:pPr marL="0" indent="0">
              <a:buNone/>
            </a:pPr>
            <a:r>
              <a:rPr lang="en-US" sz="1000" dirty="0">
                <a:solidFill>
                  <a:srgbClr val="475569"/>
                </a:solidFill>
              </a:rPr>
              <a:t>Underperforming — however has the best inventory health in network</a:t>
            </a:r>
            <a:endParaRPr lang="en-US" sz="1000" dirty="0"/>
          </a:p>
        </p:txBody>
      </p:sp>
      <p:sp>
        <p:nvSpPr>
          <p:cNvPr id="22" name="Shape 20"/>
          <p:cNvSpPr/>
          <p:nvPr/>
        </p:nvSpPr>
        <p:spPr>
          <a:xfrm>
            <a:off x="4663440" y="3182112"/>
            <a:ext cx="4114800" cy="694944"/>
          </a:xfrm>
          <a:prstGeom prst="roundRect">
            <a:avLst>
              <a:gd name="adj" fmla="val 13158"/>
            </a:avLst>
          </a:prstGeom>
          <a:solidFill>
            <a:srgbClr val="FEF2F2"/>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AE"/>
          </a:p>
        </p:txBody>
      </p:sp>
      <p:sp>
        <p:nvSpPr>
          <p:cNvPr id="23" name="Text 21"/>
          <p:cNvSpPr/>
          <p:nvPr/>
        </p:nvSpPr>
        <p:spPr>
          <a:xfrm>
            <a:off x="4846320" y="3236976"/>
            <a:ext cx="3749040" cy="274320"/>
          </a:xfrm>
          <a:prstGeom prst="rect">
            <a:avLst/>
          </a:prstGeom>
          <a:noFill/>
          <a:ln/>
        </p:spPr>
        <p:txBody>
          <a:bodyPr wrap="square" lIns="0" tIns="0" rIns="0" bIns="0" rtlCol="0" anchor="ctr"/>
          <a:lstStyle/>
          <a:p>
            <a:pPr marL="0" indent="0">
              <a:buNone/>
            </a:pPr>
            <a:r>
              <a:rPr lang="en-US" sz="1200" b="1" dirty="0">
                <a:solidFill>
                  <a:srgbClr val="DC2626"/>
                </a:solidFill>
              </a:rPr>
              <a:t>Atlanta Peachtree</a:t>
            </a:r>
            <a:endParaRPr lang="en-US" sz="1200" dirty="0"/>
          </a:p>
        </p:txBody>
      </p:sp>
      <p:sp>
        <p:nvSpPr>
          <p:cNvPr id="24" name="Text 22"/>
          <p:cNvSpPr/>
          <p:nvPr/>
        </p:nvSpPr>
        <p:spPr>
          <a:xfrm>
            <a:off x="4846320" y="3483864"/>
            <a:ext cx="3749040" cy="320040"/>
          </a:xfrm>
          <a:prstGeom prst="rect">
            <a:avLst/>
          </a:prstGeom>
          <a:noFill/>
          <a:ln/>
        </p:spPr>
        <p:txBody>
          <a:bodyPr wrap="square" lIns="0" tIns="0" rIns="0" bIns="0" rtlCol="0" anchor="ctr"/>
          <a:lstStyle/>
          <a:p>
            <a:pPr marL="0" indent="0">
              <a:buNone/>
            </a:pPr>
            <a:r>
              <a:rPr lang="en-US" sz="1000" dirty="0">
                <a:solidFill>
                  <a:srgbClr val="475569"/>
                </a:solidFill>
              </a:rPr>
              <a:t>Lowest profit — operational review required before 2025 expansion</a:t>
            </a:r>
            <a:endParaRPr lang="en-US" sz="1000" dirty="0"/>
          </a:p>
        </p:txBody>
      </p:sp>
      <p:sp>
        <p:nvSpPr>
          <p:cNvPr id="25" name="Shape 23"/>
          <p:cNvSpPr/>
          <p:nvPr/>
        </p:nvSpPr>
        <p:spPr>
          <a:xfrm>
            <a:off x="320040" y="4114800"/>
            <a:ext cx="8412480" cy="731520"/>
          </a:xfrm>
          <a:prstGeom prst="roundRect">
            <a:avLst>
              <a:gd name="adj" fmla="val 12500"/>
            </a:avLst>
          </a:prstGeom>
          <a:solidFill>
            <a:srgbClr val="0A2540"/>
          </a:solidFill>
          <a:ln w="12700">
            <a:solidFill>
              <a:srgbClr val="0A2540"/>
            </a:solidFill>
            <a:prstDash val="solid"/>
          </a:ln>
        </p:spPr>
        <p:txBody>
          <a:bodyPr/>
          <a:lstStyle/>
          <a:p>
            <a:endParaRPr lang="en-AE"/>
          </a:p>
        </p:txBody>
      </p:sp>
      <p:sp>
        <p:nvSpPr>
          <p:cNvPr id="26" name="Text 24"/>
          <p:cNvSpPr/>
          <p:nvPr/>
        </p:nvSpPr>
        <p:spPr>
          <a:xfrm>
            <a:off x="502920" y="4160520"/>
            <a:ext cx="8229600" cy="640080"/>
          </a:xfrm>
          <a:prstGeom prst="rect">
            <a:avLst/>
          </a:prstGeom>
          <a:noFill/>
          <a:ln/>
        </p:spPr>
        <p:txBody>
          <a:bodyPr wrap="square" lIns="0" tIns="0" rIns="0" bIns="0" rtlCol="0" anchor="ctr"/>
          <a:lstStyle/>
          <a:p>
            <a:pPr marL="0" indent="0">
              <a:buNone/>
            </a:pPr>
            <a:r>
              <a:rPr lang="en-US" sz="1100" dirty="0">
                <a:solidFill>
                  <a:srgbClr val="FFFFFF"/>
                </a:solidFill>
              </a:rPr>
              <a:t>Online Store is Verve's ONLY growing channel: +9% in 2023 → +4.7% in 2024. Physical store revenue is declining. Growth is slowing — digital investment is needed now to sustain momentum.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PROBLEM 2 · INVENTORY</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800" b="1" dirty="0">
                <a:solidFill>
                  <a:srgbClr val="0A2540"/>
                </a:solidFill>
                <a:latin typeface="Cambria" pitchFamily="34" charset="0"/>
                <a:ea typeface="Cambria" pitchFamily="34" charset="-122"/>
                <a:cs typeface="Cambria" pitchFamily="34" charset="-120"/>
              </a:rPr>
              <a:t>430 Products Overstocked, 5 at Immediate Risk of Stockout</a:t>
            </a:r>
            <a:endParaRPr lang="en-US" sz="2800" dirty="0"/>
          </a:p>
        </p:txBody>
      </p:sp>
      <p:sp>
        <p:nvSpPr>
          <p:cNvPr id="5" name="Shape 3"/>
          <p:cNvSpPr/>
          <p:nvPr/>
        </p:nvSpPr>
        <p:spPr>
          <a:xfrm>
            <a:off x="320040" y="1188720"/>
            <a:ext cx="1965960" cy="1463040"/>
          </a:xfrm>
          <a:prstGeom prst="roundRect">
            <a:avLst>
              <a:gd name="adj" fmla="val 75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6" name="Text 4"/>
          <p:cNvSpPr/>
          <p:nvPr/>
        </p:nvSpPr>
        <p:spPr>
          <a:xfrm>
            <a:off x="457200" y="1298448"/>
            <a:ext cx="1691640" cy="658368"/>
          </a:xfrm>
          <a:prstGeom prst="rect">
            <a:avLst/>
          </a:prstGeom>
          <a:noFill/>
          <a:ln/>
        </p:spPr>
        <p:txBody>
          <a:bodyPr wrap="square" lIns="0" tIns="0" rIns="0" bIns="0" rtlCol="0" anchor="ctr"/>
          <a:lstStyle/>
          <a:p>
            <a:pPr marL="0" indent="0" algn="ctr">
              <a:buNone/>
            </a:pPr>
            <a:r>
              <a:rPr lang="en-US" sz="3600" b="1" dirty="0">
                <a:solidFill>
                  <a:srgbClr val="D97706"/>
                </a:solidFill>
                <a:latin typeface="Cambria" pitchFamily="34" charset="0"/>
                <a:ea typeface="Cambria" pitchFamily="34" charset="-122"/>
                <a:cs typeface="Cambria" pitchFamily="34" charset="-120"/>
              </a:rPr>
              <a:t>430</a:t>
            </a:r>
            <a:endParaRPr lang="en-US" sz="3600" dirty="0"/>
          </a:p>
        </p:txBody>
      </p:sp>
      <p:sp>
        <p:nvSpPr>
          <p:cNvPr id="7" name="Text 5"/>
          <p:cNvSpPr/>
          <p:nvPr/>
        </p:nvSpPr>
        <p:spPr>
          <a:xfrm>
            <a:off x="411480" y="1920240"/>
            <a:ext cx="1783080" cy="409651"/>
          </a:xfrm>
          <a:prstGeom prst="rect">
            <a:avLst/>
          </a:prstGeom>
          <a:noFill/>
          <a:ln/>
        </p:spPr>
        <p:txBody>
          <a:bodyPr wrap="square" lIns="0" tIns="0" rIns="0" bIns="0" rtlCol="0" anchor="ctr"/>
          <a:lstStyle/>
          <a:p>
            <a:pPr marL="0" indent="0" algn="ctr">
              <a:buNone/>
            </a:pPr>
            <a:r>
              <a:rPr lang="en-US" sz="1200" b="1" dirty="0">
                <a:solidFill>
                  <a:srgbClr val="1E293B"/>
                </a:solidFill>
              </a:rPr>
              <a:t>Severe Overstock</a:t>
            </a:r>
            <a:endParaRPr lang="en-US" sz="1200" dirty="0"/>
          </a:p>
        </p:txBody>
      </p:sp>
      <p:sp>
        <p:nvSpPr>
          <p:cNvPr id="8" name="Text 6"/>
          <p:cNvSpPr/>
          <p:nvPr/>
        </p:nvSpPr>
        <p:spPr>
          <a:xfrm>
            <a:off x="411480" y="2300630"/>
            <a:ext cx="1783080" cy="292608"/>
          </a:xfrm>
          <a:prstGeom prst="rect">
            <a:avLst/>
          </a:prstGeom>
          <a:noFill/>
          <a:ln/>
        </p:spPr>
        <p:txBody>
          <a:bodyPr wrap="square" lIns="0" tIns="0" rIns="0" bIns="0" rtlCol="0" anchor="ctr"/>
          <a:lstStyle/>
          <a:p>
            <a:pPr marL="0" indent="0" algn="ctr">
              <a:buNone/>
            </a:pPr>
            <a:r>
              <a:rPr lang="en-US" sz="900" dirty="0">
                <a:solidFill>
                  <a:srgbClr val="475569"/>
                </a:solidFill>
              </a:rPr>
              <a:t>Stock &gt; 3× reorder level</a:t>
            </a:r>
            <a:endParaRPr lang="en-US" sz="900" dirty="0"/>
          </a:p>
        </p:txBody>
      </p:sp>
      <p:sp>
        <p:nvSpPr>
          <p:cNvPr id="9" name="Shape 7"/>
          <p:cNvSpPr/>
          <p:nvPr/>
        </p:nvSpPr>
        <p:spPr>
          <a:xfrm>
            <a:off x="2468880" y="1188720"/>
            <a:ext cx="1965960" cy="1463040"/>
          </a:xfrm>
          <a:prstGeom prst="roundRect">
            <a:avLst>
              <a:gd name="adj" fmla="val 75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0" name="Text 8"/>
          <p:cNvSpPr/>
          <p:nvPr/>
        </p:nvSpPr>
        <p:spPr>
          <a:xfrm>
            <a:off x="2606040" y="1298448"/>
            <a:ext cx="1691640" cy="658368"/>
          </a:xfrm>
          <a:prstGeom prst="rect">
            <a:avLst/>
          </a:prstGeom>
          <a:noFill/>
          <a:ln/>
        </p:spPr>
        <p:txBody>
          <a:bodyPr wrap="square" lIns="0" tIns="0" rIns="0" bIns="0" rtlCol="0" anchor="ctr"/>
          <a:lstStyle/>
          <a:p>
            <a:pPr marL="0" indent="0" algn="ctr">
              <a:buNone/>
            </a:pPr>
            <a:r>
              <a:rPr lang="en-US" sz="3600" b="1" dirty="0">
                <a:solidFill>
                  <a:srgbClr val="DC2626"/>
                </a:solidFill>
                <a:latin typeface="Cambria" pitchFamily="34" charset="0"/>
                <a:ea typeface="Cambria" pitchFamily="34" charset="-122"/>
                <a:cs typeface="Cambria" pitchFamily="34" charset="-120"/>
              </a:rPr>
              <a:t>30</a:t>
            </a:r>
            <a:endParaRPr lang="en-US" sz="3600" dirty="0"/>
          </a:p>
        </p:txBody>
      </p:sp>
      <p:sp>
        <p:nvSpPr>
          <p:cNvPr id="11" name="Text 9"/>
          <p:cNvSpPr/>
          <p:nvPr/>
        </p:nvSpPr>
        <p:spPr>
          <a:xfrm>
            <a:off x="2560320" y="1920240"/>
            <a:ext cx="1783080" cy="409651"/>
          </a:xfrm>
          <a:prstGeom prst="rect">
            <a:avLst/>
          </a:prstGeom>
          <a:noFill/>
          <a:ln/>
        </p:spPr>
        <p:txBody>
          <a:bodyPr wrap="square" lIns="0" tIns="0" rIns="0" bIns="0" rtlCol="0" anchor="ctr"/>
          <a:lstStyle/>
          <a:p>
            <a:pPr marL="0" indent="0" algn="ctr">
              <a:buNone/>
            </a:pPr>
            <a:r>
              <a:rPr lang="en-US" sz="1200" b="1" dirty="0">
                <a:solidFill>
                  <a:srgbClr val="1E293B"/>
                </a:solidFill>
              </a:rPr>
              <a:t>Reorder Risk</a:t>
            </a:r>
            <a:endParaRPr lang="en-US" sz="1200" dirty="0"/>
          </a:p>
        </p:txBody>
      </p:sp>
      <p:sp>
        <p:nvSpPr>
          <p:cNvPr id="12" name="Text 10"/>
          <p:cNvSpPr/>
          <p:nvPr/>
        </p:nvSpPr>
        <p:spPr>
          <a:xfrm>
            <a:off x="2560320" y="2300630"/>
            <a:ext cx="1783080" cy="292608"/>
          </a:xfrm>
          <a:prstGeom prst="rect">
            <a:avLst/>
          </a:prstGeom>
          <a:noFill/>
          <a:ln/>
        </p:spPr>
        <p:txBody>
          <a:bodyPr wrap="square" lIns="0" tIns="0" rIns="0" bIns="0" rtlCol="0" anchor="ctr"/>
          <a:lstStyle/>
          <a:p>
            <a:pPr marL="0" indent="0" algn="ctr">
              <a:buNone/>
            </a:pPr>
            <a:r>
              <a:rPr lang="en-US" sz="900" dirty="0">
                <a:solidFill>
                  <a:srgbClr val="475569"/>
                </a:solidFill>
              </a:rPr>
              <a:t>At or below safety threshold</a:t>
            </a:r>
            <a:endParaRPr lang="en-US" sz="900" dirty="0"/>
          </a:p>
        </p:txBody>
      </p:sp>
      <p:sp>
        <p:nvSpPr>
          <p:cNvPr id="13" name="Shape 11"/>
          <p:cNvSpPr/>
          <p:nvPr/>
        </p:nvSpPr>
        <p:spPr>
          <a:xfrm>
            <a:off x="4617720" y="1188720"/>
            <a:ext cx="1965960" cy="1463040"/>
          </a:xfrm>
          <a:prstGeom prst="roundRect">
            <a:avLst>
              <a:gd name="adj" fmla="val 75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4" name="Text 12"/>
          <p:cNvSpPr/>
          <p:nvPr/>
        </p:nvSpPr>
        <p:spPr>
          <a:xfrm>
            <a:off x="4754880" y="1298448"/>
            <a:ext cx="1691640" cy="658368"/>
          </a:xfrm>
          <a:prstGeom prst="rect">
            <a:avLst/>
          </a:prstGeom>
          <a:noFill/>
          <a:ln/>
        </p:spPr>
        <p:txBody>
          <a:bodyPr wrap="square" lIns="0" tIns="0" rIns="0" bIns="0" rtlCol="0" anchor="ctr"/>
          <a:lstStyle/>
          <a:p>
            <a:pPr marL="0" indent="0" algn="ctr">
              <a:buNone/>
            </a:pPr>
            <a:r>
              <a:rPr lang="en-US" sz="3600" b="1" dirty="0">
                <a:solidFill>
                  <a:srgbClr val="DC2626"/>
                </a:solidFill>
                <a:latin typeface="Cambria" pitchFamily="34" charset="0"/>
                <a:ea typeface="Cambria" pitchFamily="34" charset="-122"/>
                <a:cs typeface="Cambria" pitchFamily="34" charset="-120"/>
              </a:rPr>
              <a:t>1</a:t>
            </a:r>
            <a:endParaRPr lang="en-US" sz="3600" dirty="0"/>
          </a:p>
        </p:txBody>
      </p:sp>
      <p:sp>
        <p:nvSpPr>
          <p:cNvPr id="15" name="Text 13"/>
          <p:cNvSpPr/>
          <p:nvPr/>
        </p:nvSpPr>
        <p:spPr>
          <a:xfrm>
            <a:off x="4709160" y="1920240"/>
            <a:ext cx="1783080" cy="409651"/>
          </a:xfrm>
          <a:prstGeom prst="rect">
            <a:avLst/>
          </a:prstGeom>
          <a:noFill/>
          <a:ln/>
        </p:spPr>
        <p:txBody>
          <a:bodyPr wrap="square" lIns="0" tIns="0" rIns="0" bIns="0" rtlCol="0" anchor="ctr"/>
          <a:lstStyle/>
          <a:p>
            <a:pPr marL="0" indent="0" algn="ctr">
              <a:buNone/>
            </a:pPr>
            <a:r>
              <a:rPr lang="en-US" sz="1200" b="1" dirty="0">
                <a:solidFill>
                  <a:srgbClr val="1E293B"/>
                </a:solidFill>
              </a:rPr>
              <a:t>Confirmed Stockout</a:t>
            </a:r>
            <a:endParaRPr lang="en-US" sz="1200" dirty="0"/>
          </a:p>
        </p:txBody>
      </p:sp>
      <p:sp>
        <p:nvSpPr>
          <p:cNvPr id="16" name="Text 14"/>
          <p:cNvSpPr/>
          <p:nvPr/>
        </p:nvSpPr>
        <p:spPr>
          <a:xfrm>
            <a:off x="4709160" y="2300630"/>
            <a:ext cx="1783080" cy="292608"/>
          </a:xfrm>
          <a:prstGeom prst="rect">
            <a:avLst/>
          </a:prstGeom>
          <a:noFill/>
          <a:ln/>
        </p:spPr>
        <p:txBody>
          <a:bodyPr wrap="square" lIns="0" tIns="0" rIns="0" bIns="0" rtlCol="0" anchor="ctr"/>
          <a:lstStyle/>
          <a:p>
            <a:pPr marL="0" indent="0" algn="ctr">
              <a:buNone/>
            </a:pPr>
            <a:r>
              <a:rPr lang="en-US" sz="900" dirty="0">
                <a:solidFill>
                  <a:srgbClr val="475569"/>
                </a:solidFill>
              </a:rPr>
              <a:t>LA Beverly Hills</a:t>
            </a:r>
            <a:endParaRPr lang="en-US" sz="900" dirty="0"/>
          </a:p>
        </p:txBody>
      </p:sp>
      <p:sp>
        <p:nvSpPr>
          <p:cNvPr id="17" name="Shape 15"/>
          <p:cNvSpPr/>
          <p:nvPr/>
        </p:nvSpPr>
        <p:spPr>
          <a:xfrm>
            <a:off x="6766560" y="1188720"/>
            <a:ext cx="1965960" cy="1463040"/>
          </a:xfrm>
          <a:prstGeom prst="roundRect">
            <a:avLst>
              <a:gd name="adj" fmla="val 75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8" name="Text 16"/>
          <p:cNvSpPr/>
          <p:nvPr/>
        </p:nvSpPr>
        <p:spPr>
          <a:xfrm>
            <a:off x="6903720" y="1298448"/>
            <a:ext cx="1691640" cy="658368"/>
          </a:xfrm>
          <a:prstGeom prst="rect">
            <a:avLst/>
          </a:prstGeom>
          <a:noFill/>
          <a:ln/>
        </p:spPr>
        <p:txBody>
          <a:bodyPr wrap="square" lIns="0" tIns="0" rIns="0" bIns="0" rtlCol="0" anchor="ctr"/>
          <a:lstStyle/>
          <a:p>
            <a:pPr marL="0" indent="0" algn="ctr">
              <a:buNone/>
            </a:pPr>
            <a:r>
              <a:rPr lang="en-US" sz="3600" b="1" dirty="0">
                <a:solidFill>
                  <a:srgbClr val="475569"/>
                </a:solidFill>
                <a:latin typeface="Cambria" pitchFamily="34" charset="0"/>
                <a:ea typeface="Cambria" pitchFamily="34" charset="-122"/>
                <a:cs typeface="Cambria" pitchFamily="34" charset="-120"/>
              </a:rPr>
              <a:t>27</a:t>
            </a:r>
            <a:endParaRPr lang="en-US" sz="3600" dirty="0"/>
          </a:p>
        </p:txBody>
      </p:sp>
      <p:sp>
        <p:nvSpPr>
          <p:cNvPr id="19" name="Text 17"/>
          <p:cNvSpPr/>
          <p:nvPr/>
        </p:nvSpPr>
        <p:spPr>
          <a:xfrm>
            <a:off x="6858000" y="1920240"/>
            <a:ext cx="1783080" cy="409651"/>
          </a:xfrm>
          <a:prstGeom prst="rect">
            <a:avLst/>
          </a:prstGeom>
          <a:noFill/>
          <a:ln/>
        </p:spPr>
        <p:txBody>
          <a:bodyPr wrap="square" lIns="0" tIns="0" rIns="0" bIns="0" rtlCol="0" anchor="ctr"/>
          <a:lstStyle/>
          <a:p>
            <a:pPr marL="0" indent="0" algn="ctr">
              <a:buNone/>
            </a:pPr>
            <a:r>
              <a:rPr lang="en-US" sz="1200" b="1" dirty="0">
                <a:solidFill>
                  <a:srgbClr val="1E293B"/>
                </a:solidFill>
              </a:rPr>
              <a:t>Unknown Status</a:t>
            </a:r>
            <a:endParaRPr lang="en-US" sz="1200" dirty="0"/>
          </a:p>
        </p:txBody>
      </p:sp>
      <p:sp>
        <p:nvSpPr>
          <p:cNvPr id="20" name="Text 18"/>
          <p:cNvSpPr/>
          <p:nvPr/>
        </p:nvSpPr>
        <p:spPr>
          <a:xfrm>
            <a:off x="6858000" y="2300630"/>
            <a:ext cx="1783080" cy="292608"/>
          </a:xfrm>
          <a:prstGeom prst="rect">
            <a:avLst/>
          </a:prstGeom>
          <a:noFill/>
          <a:ln/>
        </p:spPr>
        <p:txBody>
          <a:bodyPr wrap="square" lIns="0" tIns="0" rIns="0" bIns="0" rtlCol="0" anchor="ctr"/>
          <a:lstStyle/>
          <a:p>
            <a:pPr marL="0" indent="0" algn="ctr">
              <a:buNone/>
            </a:pPr>
            <a:r>
              <a:rPr lang="en-US" sz="900" dirty="0">
                <a:solidFill>
                  <a:srgbClr val="475569"/>
                </a:solidFill>
              </a:rPr>
              <a:t>Missing stock quantity data</a:t>
            </a:r>
            <a:endParaRPr lang="en-US" sz="900" dirty="0"/>
          </a:p>
        </p:txBody>
      </p:sp>
      <p:sp>
        <p:nvSpPr>
          <p:cNvPr id="21" name="Text 19"/>
          <p:cNvSpPr/>
          <p:nvPr/>
        </p:nvSpPr>
        <p:spPr>
          <a:xfrm>
            <a:off x="320040" y="2788920"/>
            <a:ext cx="8412480" cy="320040"/>
          </a:xfrm>
          <a:prstGeom prst="rect">
            <a:avLst/>
          </a:prstGeom>
          <a:noFill/>
          <a:ln/>
        </p:spPr>
        <p:txBody>
          <a:bodyPr wrap="square" lIns="0" tIns="0" rIns="0" bIns="0" rtlCol="0" anchor="ctr"/>
          <a:lstStyle/>
          <a:p>
            <a:pPr marL="0" indent="0">
              <a:buNone/>
            </a:pPr>
            <a:r>
              <a:rPr lang="en-US" sz="1200" b="1" dirty="0">
                <a:solidFill>
                  <a:srgbClr val="0A2540"/>
                </a:solidFill>
                <a:latin typeface="Cambria" pitchFamily="34" charset="0"/>
                <a:ea typeface="Cambria" pitchFamily="34" charset="-122"/>
                <a:cs typeface="Cambria" pitchFamily="34" charset="-120"/>
              </a:rPr>
              <a:t>Immediate Action Required — Products at Stockout or Critical Risk</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3154680"/>
          <a:ext cx="8412480" cy="1691640"/>
        </p:xfrm>
        <a:graphic>
          <a:graphicData uri="http://schemas.openxmlformats.org/drawingml/2006/table">
            <a:tbl>
              <a:tblPr/>
              <a:tblGrid>
                <a:gridCol w="3108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92608">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Product</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2540"/>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Category</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2540"/>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Stock</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2540"/>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292608">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Resistance Band Kit 5pc</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Sports &amp; Outdoors</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0 units</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 Stockout</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Minimalist Wall Clock</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Home &amp; Kitchen</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1 unit</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 Critical</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UltraBook 15</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Electronics</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2 units</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 Critical — high value</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High-Density Foam Roller</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Sports &amp; Outdoors</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1 unit</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 Critical</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Knit Sweater Wool</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Clothing</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2 units</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latin typeface="Arial" pitchFamily="34" charset="0"/>
                          <a:ea typeface="Arial" pitchFamily="34" charset="-122"/>
                          <a:cs typeface="Arial" pitchFamily="34" charset="-120"/>
                        </a:rPr>
                        <a:t>🚨 Critical</a:t>
                      </a:r>
                      <a:endParaRPr lang="en-US" sz="1000" dirty="0">
                        <a:latin typeface="Arial" charset="0"/>
                        <a:ea typeface="Arial" charset="0"/>
                        <a:cs typeface="Arial"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PROBLEM 3 · CUSTOMER SEGMENTATION</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200" b="1" dirty="0">
                <a:solidFill>
                  <a:srgbClr val="0A2540"/>
                </a:solidFill>
                <a:latin typeface="Cambria" pitchFamily="34" charset="0"/>
                <a:ea typeface="Cambria" pitchFamily="34" charset="-122"/>
                <a:cs typeface="Cambria" pitchFamily="34" charset="-120"/>
              </a:rPr>
              <a:t>Premium Customers Drive the Highest Value Per Transaction</a:t>
            </a:r>
            <a:endParaRPr lang="en-US" sz="2200" dirty="0"/>
          </a:p>
        </p:txBody>
      </p:sp>
      <p:graphicFrame>
        <p:nvGraphicFramePr>
          <p:cNvPr id="5" name="Chart 0"/>
          <p:cNvGraphicFramePr/>
          <p:nvPr/>
        </p:nvGraphicFramePr>
        <p:xfrm>
          <a:off x="320040" y="1143000"/>
          <a:ext cx="36576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297680" y="1143000"/>
            <a:ext cx="4480560" cy="320040"/>
          </a:xfrm>
          <a:prstGeom prst="rect">
            <a:avLst/>
          </a:prstGeom>
          <a:noFill/>
          <a:ln/>
        </p:spPr>
        <p:txBody>
          <a:bodyPr wrap="square" lIns="0" tIns="0" rIns="0" bIns="0" rtlCol="0" anchor="ctr"/>
          <a:lstStyle/>
          <a:p>
            <a:pPr marL="0" indent="0">
              <a:buNone/>
            </a:pPr>
            <a:r>
              <a:rPr lang="en-US" sz="1200" b="1" dirty="0">
                <a:solidFill>
                  <a:srgbClr val="0A2540"/>
                </a:solidFill>
                <a:latin typeface="Cambria" pitchFamily="34" charset="0"/>
                <a:ea typeface="Cambria" pitchFamily="34" charset="-122"/>
                <a:cs typeface="Cambria" pitchFamily="34" charset="-120"/>
              </a:rPr>
              <a:t>CLV &amp; AOV by Customer Segment</a:t>
            </a:r>
            <a:endParaRPr lang="en-US" sz="1200" dirty="0"/>
          </a:p>
        </p:txBody>
      </p:sp>
      <p:sp>
        <p:nvSpPr>
          <p:cNvPr id="7" name="Shape 4"/>
          <p:cNvSpPr/>
          <p:nvPr/>
        </p:nvSpPr>
        <p:spPr>
          <a:xfrm>
            <a:off x="4297680" y="1554480"/>
            <a:ext cx="4480560" cy="694944"/>
          </a:xfrm>
          <a:prstGeom prst="roundRect">
            <a:avLst>
              <a:gd name="adj" fmla="val 10526"/>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8" name="Shape 5"/>
          <p:cNvSpPr/>
          <p:nvPr/>
        </p:nvSpPr>
        <p:spPr>
          <a:xfrm>
            <a:off x="4407408" y="1719072"/>
            <a:ext cx="365760" cy="365760"/>
          </a:xfrm>
          <a:prstGeom prst="ellipse">
            <a:avLst/>
          </a:prstGeom>
          <a:solidFill>
            <a:srgbClr val="D97706"/>
          </a:solidFill>
          <a:ln w="12700">
            <a:solidFill>
              <a:srgbClr val="D97706"/>
            </a:solidFill>
            <a:prstDash val="solid"/>
          </a:ln>
        </p:spPr>
        <p:txBody>
          <a:bodyPr/>
          <a:lstStyle/>
          <a:p>
            <a:endParaRPr lang="en-AE"/>
          </a:p>
        </p:txBody>
      </p:sp>
      <p:sp>
        <p:nvSpPr>
          <p:cNvPr id="9" name="Text 6"/>
          <p:cNvSpPr/>
          <p:nvPr/>
        </p:nvSpPr>
        <p:spPr>
          <a:xfrm>
            <a:off x="4892040" y="1609344"/>
            <a:ext cx="1280160" cy="292608"/>
          </a:xfrm>
          <a:prstGeom prst="rect">
            <a:avLst/>
          </a:prstGeom>
          <a:noFill/>
          <a:ln/>
        </p:spPr>
        <p:txBody>
          <a:bodyPr wrap="square" lIns="0" tIns="0" rIns="0" bIns="0" rtlCol="0" anchor="ctr"/>
          <a:lstStyle/>
          <a:p>
            <a:pPr marL="0" indent="0">
              <a:buNone/>
            </a:pPr>
            <a:r>
              <a:rPr lang="en-US" sz="1200" b="1" dirty="0">
                <a:solidFill>
                  <a:srgbClr val="1E293B"/>
                </a:solidFill>
              </a:rPr>
              <a:t>Premium</a:t>
            </a:r>
            <a:endParaRPr lang="en-US" sz="1200" dirty="0"/>
          </a:p>
        </p:txBody>
      </p:sp>
      <p:sp>
        <p:nvSpPr>
          <p:cNvPr id="10" name="Text 7"/>
          <p:cNvSpPr/>
          <p:nvPr/>
        </p:nvSpPr>
        <p:spPr>
          <a:xfrm>
            <a:off x="4892040" y="1938528"/>
            <a:ext cx="1280160" cy="256032"/>
          </a:xfrm>
          <a:prstGeom prst="rect">
            <a:avLst/>
          </a:prstGeom>
          <a:noFill/>
          <a:ln/>
        </p:spPr>
        <p:txBody>
          <a:bodyPr wrap="square" lIns="0" tIns="0" rIns="0" bIns="0" rtlCol="0" anchor="ctr"/>
          <a:lstStyle/>
          <a:p>
            <a:pPr marL="0" indent="0">
              <a:buNone/>
            </a:pPr>
            <a:r>
              <a:rPr lang="en-US" sz="900" dirty="0">
                <a:solidFill>
                  <a:srgbClr val="475569"/>
                </a:solidFill>
              </a:rPr>
              <a:t>61 customers</a:t>
            </a:r>
            <a:endParaRPr lang="en-US" sz="900" dirty="0"/>
          </a:p>
        </p:txBody>
      </p:sp>
      <p:sp>
        <p:nvSpPr>
          <p:cNvPr id="11" name="Text 8"/>
          <p:cNvSpPr/>
          <p:nvPr/>
        </p:nvSpPr>
        <p:spPr>
          <a:xfrm>
            <a:off x="6263640" y="1609344"/>
            <a:ext cx="2377440" cy="292608"/>
          </a:xfrm>
          <a:prstGeom prst="rect">
            <a:avLst/>
          </a:prstGeom>
          <a:noFill/>
          <a:ln/>
        </p:spPr>
        <p:txBody>
          <a:bodyPr wrap="square" lIns="0" tIns="0" rIns="0" bIns="0" rtlCol="0" anchor="ctr"/>
          <a:lstStyle/>
          <a:p>
            <a:pPr marL="0" indent="0">
              <a:buNone/>
            </a:pPr>
            <a:r>
              <a:rPr lang="en-US" sz="1000" b="1" dirty="0">
                <a:solidFill>
                  <a:srgbClr val="D97706"/>
                </a:solidFill>
              </a:rPr>
              <a:t>CLV $11,823  |  AOV $780</a:t>
            </a:r>
            <a:endParaRPr lang="en-US" sz="1000" dirty="0"/>
          </a:p>
        </p:txBody>
      </p:sp>
      <p:sp>
        <p:nvSpPr>
          <p:cNvPr id="12" name="Text 9"/>
          <p:cNvSpPr/>
          <p:nvPr/>
        </p:nvSpPr>
        <p:spPr>
          <a:xfrm>
            <a:off x="6263640" y="1938528"/>
            <a:ext cx="2377440" cy="256032"/>
          </a:xfrm>
          <a:prstGeom prst="rect">
            <a:avLst/>
          </a:prstGeom>
          <a:noFill/>
          <a:ln/>
        </p:spPr>
        <p:txBody>
          <a:bodyPr wrap="square" lIns="0" tIns="0" rIns="0" bIns="0" rtlCol="0" anchor="ctr"/>
          <a:lstStyle/>
          <a:p>
            <a:pPr marL="0" indent="0">
              <a:buNone/>
            </a:pPr>
            <a:r>
              <a:rPr lang="en-US" sz="900" dirty="0">
                <a:solidFill>
                  <a:srgbClr val="475569"/>
                </a:solidFill>
              </a:rPr>
              <a:t>Highest value — highest risk if lost</a:t>
            </a:r>
            <a:endParaRPr lang="en-US" sz="900" dirty="0"/>
          </a:p>
        </p:txBody>
      </p:sp>
      <p:sp>
        <p:nvSpPr>
          <p:cNvPr id="13" name="Shape 10"/>
          <p:cNvSpPr/>
          <p:nvPr/>
        </p:nvSpPr>
        <p:spPr>
          <a:xfrm>
            <a:off x="4297680" y="2350008"/>
            <a:ext cx="4480560" cy="694944"/>
          </a:xfrm>
          <a:prstGeom prst="roundRect">
            <a:avLst>
              <a:gd name="adj" fmla="val 10526"/>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4" name="Shape 11"/>
          <p:cNvSpPr/>
          <p:nvPr/>
        </p:nvSpPr>
        <p:spPr>
          <a:xfrm>
            <a:off x="4407408" y="2514600"/>
            <a:ext cx="365760" cy="365760"/>
          </a:xfrm>
          <a:prstGeom prst="ellipse">
            <a:avLst/>
          </a:prstGeom>
          <a:solidFill>
            <a:srgbClr val="0D9488"/>
          </a:solidFill>
          <a:ln w="12700">
            <a:solidFill>
              <a:srgbClr val="0D9488"/>
            </a:solidFill>
            <a:prstDash val="solid"/>
          </a:ln>
        </p:spPr>
        <p:txBody>
          <a:bodyPr/>
          <a:lstStyle/>
          <a:p>
            <a:endParaRPr lang="en-AE"/>
          </a:p>
        </p:txBody>
      </p:sp>
      <p:sp>
        <p:nvSpPr>
          <p:cNvPr id="15" name="Text 12"/>
          <p:cNvSpPr/>
          <p:nvPr/>
        </p:nvSpPr>
        <p:spPr>
          <a:xfrm>
            <a:off x="4892040" y="2404872"/>
            <a:ext cx="1280160" cy="292608"/>
          </a:xfrm>
          <a:prstGeom prst="rect">
            <a:avLst/>
          </a:prstGeom>
          <a:noFill/>
          <a:ln/>
        </p:spPr>
        <p:txBody>
          <a:bodyPr wrap="square" lIns="0" tIns="0" rIns="0" bIns="0" rtlCol="0" anchor="ctr"/>
          <a:lstStyle/>
          <a:p>
            <a:pPr marL="0" indent="0">
              <a:buNone/>
            </a:pPr>
            <a:r>
              <a:rPr lang="en-US" sz="1200" b="1" dirty="0">
                <a:solidFill>
                  <a:srgbClr val="1E293B"/>
                </a:solidFill>
              </a:rPr>
              <a:t>Occasional</a:t>
            </a:r>
            <a:endParaRPr lang="en-US" sz="1200" dirty="0"/>
          </a:p>
        </p:txBody>
      </p:sp>
      <p:sp>
        <p:nvSpPr>
          <p:cNvPr id="16" name="Text 13"/>
          <p:cNvSpPr/>
          <p:nvPr/>
        </p:nvSpPr>
        <p:spPr>
          <a:xfrm>
            <a:off x="4892040" y="2734056"/>
            <a:ext cx="1280160" cy="256032"/>
          </a:xfrm>
          <a:prstGeom prst="rect">
            <a:avLst/>
          </a:prstGeom>
          <a:noFill/>
          <a:ln/>
        </p:spPr>
        <p:txBody>
          <a:bodyPr wrap="square" lIns="0" tIns="0" rIns="0" bIns="0" rtlCol="0" anchor="ctr"/>
          <a:lstStyle/>
          <a:p>
            <a:pPr marL="0" indent="0">
              <a:buNone/>
            </a:pPr>
            <a:r>
              <a:rPr lang="en-US" sz="900" dirty="0">
                <a:solidFill>
                  <a:srgbClr val="475569"/>
                </a:solidFill>
              </a:rPr>
              <a:t>127 customers</a:t>
            </a:r>
            <a:endParaRPr lang="en-US" sz="900" dirty="0"/>
          </a:p>
        </p:txBody>
      </p:sp>
      <p:sp>
        <p:nvSpPr>
          <p:cNvPr id="17" name="Text 14"/>
          <p:cNvSpPr/>
          <p:nvPr/>
        </p:nvSpPr>
        <p:spPr>
          <a:xfrm>
            <a:off x="6263640" y="2404872"/>
            <a:ext cx="2377440" cy="292608"/>
          </a:xfrm>
          <a:prstGeom prst="rect">
            <a:avLst/>
          </a:prstGeom>
          <a:noFill/>
          <a:ln/>
        </p:spPr>
        <p:txBody>
          <a:bodyPr wrap="square" lIns="0" tIns="0" rIns="0" bIns="0" rtlCol="0" anchor="ctr"/>
          <a:lstStyle/>
          <a:p>
            <a:pPr marL="0" indent="0">
              <a:buNone/>
            </a:pPr>
            <a:r>
              <a:rPr lang="en-US" sz="1000" b="1" dirty="0">
                <a:solidFill>
                  <a:srgbClr val="0D9488"/>
                </a:solidFill>
              </a:rPr>
              <a:t>CLV $10,980  |  AOV $774</a:t>
            </a:r>
            <a:endParaRPr lang="en-US" sz="1000" dirty="0"/>
          </a:p>
        </p:txBody>
      </p:sp>
      <p:sp>
        <p:nvSpPr>
          <p:cNvPr id="18" name="Text 15"/>
          <p:cNvSpPr/>
          <p:nvPr/>
        </p:nvSpPr>
        <p:spPr>
          <a:xfrm>
            <a:off x="6263640" y="2734056"/>
            <a:ext cx="2377440" cy="256032"/>
          </a:xfrm>
          <a:prstGeom prst="rect">
            <a:avLst/>
          </a:prstGeom>
          <a:noFill/>
          <a:ln/>
        </p:spPr>
        <p:txBody>
          <a:bodyPr wrap="square" lIns="0" tIns="0" rIns="0" bIns="0" rtlCol="0" anchor="ctr"/>
          <a:lstStyle/>
          <a:p>
            <a:pPr marL="0" indent="0">
              <a:buNone/>
            </a:pPr>
            <a:r>
              <a:rPr lang="en-US" sz="900" dirty="0">
                <a:solidFill>
                  <a:srgbClr val="475569"/>
                </a:solidFill>
              </a:rPr>
              <a:t>2nd highest CLV — strong opportunity</a:t>
            </a:r>
            <a:endParaRPr lang="en-US" sz="900" dirty="0"/>
          </a:p>
        </p:txBody>
      </p:sp>
      <p:sp>
        <p:nvSpPr>
          <p:cNvPr id="19" name="Shape 16"/>
          <p:cNvSpPr/>
          <p:nvPr/>
        </p:nvSpPr>
        <p:spPr>
          <a:xfrm>
            <a:off x="4297680" y="3145536"/>
            <a:ext cx="4480560" cy="694944"/>
          </a:xfrm>
          <a:prstGeom prst="roundRect">
            <a:avLst>
              <a:gd name="adj" fmla="val 10526"/>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20" name="Shape 17"/>
          <p:cNvSpPr/>
          <p:nvPr/>
        </p:nvSpPr>
        <p:spPr>
          <a:xfrm>
            <a:off x="4407408" y="3310128"/>
            <a:ext cx="365760" cy="365760"/>
          </a:xfrm>
          <a:prstGeom prst="ellipse">
            <a:avLst/>
          </a:prstGeom>
          <a:solidFill>
            <a:srgbClr val="64748B"/>
          </a:solidFill>
          <a:ln w="12700">
            <a:solidFill>
              <a:srgbClr val="64748B"/>
            </a:solidFill>
            <a:prstDash val="solid"/>
          </a:ln>
        </p:spPr>
        <p:txBody>
          <a:bodyPr/>
          <a:lstStyle/>
          <a:p>
            <a:endParaRPr lang="en-AE"/>
          </a:p>
        </p:txBody>
      </p:sp>
      <p:sp>
        <p:nvSpPr>
          <p:cNvPr id="21" name="Text 18"/>
          <p:cNvSpPr/>
          <p:nvPr/>
        </p:nvSpPr>
        <p:spPr>
          <a:xfrm>
            <a:off x="4892040" y="3200400"/>
            <a:ext cx="1280160" cy="292608"/>
          </a:xfrm>
          <a:prstGeom prst="rect">
            <a:avLst/>
          </a:prstGeom>
          <a:noFill/>
          <a:ln/>
        </p:spPr>
        <p:txBody>
          <a:bodyPr wrap="square" lIns="0" tIns="0" rIns="0" bIns="0" rtlCol="0" anchor="ctr"/>
          <a:lstStyle/>
          <a:p>
            <a:pPr marL="0" indent="0">
              <a:buNone/>
            </a:pPr>
            <a:r>
              <a:rPr lang="en-US" sz="1200" b="1" dirty="0">
                <a:solidFill>
                  <a:srgbClr val="1E293B"/>
                </a:solidFill>
              </a:rPr>
              <a:t>New</a:t>
            </a:r>
            <a:endParaRPr lang="en-US" sz="1200" dirty="0"/>
          </a:p>
        </p:txBody>
      </p:sp>
      <p:sp>
        <p:nvSpPr>
          <p:cNvPr id="22" name="Text 19"/>
          <p:cNvSpPr/>
          <p:nvPr/>
        </p:nvSpPr>
        <p:spPr>
          <a:xfrm>
            <a:off x="4892040" y="3529584"/>
            <a:ext cx="1280160" cy="256032"/>
          </a:xfrm>
          <a:prstGeom prst="rect">
            <a:avLst/>
          </a:prstGeom>
          <a:noFill/>
          <a:ln/>
        </p:spPr>
        <p:txBody>
          <a:bodyPr wrap="square" lIns="0" tIns="0" rIns="0" bIns="0" rtlCol="0" anchor="ctr"/>
          <a:lstStyle/>
          <a:p>
            <a:pPr marL="0" indent="0">
              <a:buNone/>
            </a:pPr>
            <a:r>
              <a:rPr lang="en-US" sz="900" dirty="0">
                <a:solidFill>
                  <a:srgbClr val="475569"/>
                </a:solidFill>
              </a:rPr>
              <a:t>78 customers</a:t>
            </a:r>
            <a:endParaRPr lang="en-US" sz="900" dirty="0"/>
          </a:p>
        </p:txBody>
      </p:sp>
      <p:sp>
        <p:nvSpPr>
          <p:cNvPr id="23" name="Text 20"/>
          <p:cNvSpPr/>
          <p:nvPr/>
        </p:nvSpPr>
        <p:spPr>
          <a:xfrm>
            <a:off x="6263640" y="3200400"/>
            <a:ext cx="2377440" cy="292608"/>
          </a:xfrm>
          <a:prstGeom prst="rect">
            <a:avLst/>
          </a:prstGeom>
          <a:noFill/>
          <a:ln/>
        </p:spPr>
        <p:txBody>
          <a:bodyPr wrap="square" lIns="0" tIns="0" rIns="0" bIns="0" rtlCol="0" anchor="ctr"/>
          <a:lstStyle/>
          <a:p>
            <a:pPr marL="0" indent="0">
              <a:buNone/>
            </a:pPr>
            <a:r>
              <a:rPr lang="en-US" sz="1000" b="1" dirty="0">
                <a:solidFill>
                  <a:srgbClr val="64748B"/>
                </a:solidFill>
              </a:rPr>
              <a:t>CLV $10,511  |  AOV $711</a:t>
            </a:r>
            <a:endParaRPr lang="en-US" sz="1000" dirty="0"/>
          </a:p>
        </p:txBody>
      </p:sp>
      <p:sp>
        <p:nvSpPr>
          <p:cNvPr id="24" name="Text 21"/>
          <p:cNvSpPr/>
          <p:nvPr/>
        </p:nvSpPr>
        <p:spPr>
          <a:xfrm>
            <a:off x="6263640" y="3529584"/>
            <a:ext cx="2377440" cy="256032"/>
          </a:xfrm>
          <a:prstGeom prst="rect">
            <a:avLst/>
          </a:prstGeom>
          <a:noFill/>
          <a:ln/>
        </p:spPr>
        <p:txBody>
          <a:bodyPr wrap="square" lIns="0" tIns="0" rIns="0" bIns="0" rtlCol="0" anchor="ctr"/>
          <a:lstStyle/>
          <a:p>
            <a:pPr marL="0" indent="0">
              <a:buNone/>
            </a:pPr>
            <a:r>
              <a:rPr lang="en-US" sz="900" dirty="0">
                <a:solidFill>
                  <a:srgbClr val="475569"/>
                </a:solidFill>
              </a:rPr>
              <a:t>Strong AOV but 28% already lapsing</a:t>
            </a:r>
            <a:endParaRPr lang="en-US" sz="900" dirty="0"/>
          </a:p>
        </p:txBody>
      </p:sp>
      <p:sp>
        <p:nvSpPr>
          <p:cNvPr id="25" name="Shape 22"/>
          <p:cNvSpPr/>
          <p:nvPr/>
        </p:nvSpPr>
        <p:spPr>
          <a:xfrm>
            <a:off x="4297680" y="3941064"/>
            <a:ext cx="4480560" cy="694944"/>
          </a:xfrm>
          <a:prstGeom prst="roundRect">
            <a:avLst>
              <a:gd name="adj" fmla="val 10526"/>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26" name="Shape 23"/>
          <p:cNvSpPr/>
          <p:nvPr/>
        </p:nvSpPr>
        <p:spPr>
          <a:xfrm>
            <a:off x="4407408" y="4105656"/>
            <a:ext cx="365760" cy="365760"/>
          </a:xfrm>
          <a:prstGeom prst="ellipse">
            <a:avLst/>
          </a:prstGeom>
          <a:solidFill>
            <a:srgbClr val="065A82"/>
          </a:solidFill>
          <a:ln w="12700">
            <a:solidFill>
              <a:srgbClr val="065A82"/>
            </a:solidFill>
            <a:prstDash val="solid"/>
          </a:ln>
        </p:spPr>
        <p:txBody>
          <a:bodyPr/>
          <a:lstStyle/>
          <a:p>
            <a:endParaRPr lang="en-AE"/>
          </a:p>
        </p:txBody>
      </p:sp>
      <p:sp>
        <p:nvSpPr>
          <p:cNvPr id="27" name="Text 24"/>
          <p:cNvSpPr/>
          <p:nvPr/>
        </p:nvSpPr>
        <p:spPr>
          <a:xfrm>
            <a:off x="4892040" y="3995928"/>
            <a:ext cx="1280160" cy="292608"/>
          </a:xfrm>
          <a:prstGeom prst="rect">
            <a:avLst/>
          </a:prstGeom>
          <a:noFill/>
          <a:ln/>
        </p:spPr>
        <p:txBody>
          <a:bodyPr wrap="square" lIns="0" tIns="0" rIns="0" bIns="0" rtlCol="0" anchor="ctr"/>
          <a:lstStyle/>
          <a:p>
            <a:pPr marL="0" indent="0">
              <a:buNone/>
            </a:pPr>
            <a:r>
              <a:rPr lang="en-US" sz="1200" b="1" dirty="0">
                <a:solidFill>
                  <a:srgbClr val="1E293B"/>
                </a:solidFill>
              </a:rPr>
              <a:t>Regular</a:t>
            </a:r>
            <a:endParaRPr lang="en-US" sz="1200" dirty="0"/>
          </a:p>
        </p:txBody>
      </p:sp>
      <p:sp>
        <p:nvSpPr>
          <p:cNvPr id="28" name="Text 25"/>
          <p:cNvSpPr/>
          <p:nvPr/>
        </p:nvSpPr>
        <p:spPr>
          <a:xfrm>
            <a:off x="4892040" y="4325112"/>
            <a:ext cx="1280160" cy="256032"/>
          </a:xfrm>
          <a:prstGeom prst="rect">
            <a:avLst/>
          </a:prstGeom>
          <a:noFill/>
          <a:ln/>
        </p:spPr>
        <p:txBody>
          <a:bodyPr wrap="square" lIns="0" tIns="0" rIns="0" bIns="0" rtlCol="0" anchor="ctr"/>
          <a:lstStyle/>
          <a:p>
            <a:pPr marL="0" indent="0">
              <a:buNone/>
            </a:pPr>
            <a:r>
              <a:rPr lang="en-US" sz="900" dirty="0">
                <a:solidFill>
                  <a:srgbClr val="475569"/>
                </a:solidFill>
              </a:rPr>
              <a:t>206 customers</a:t>
            </a:r>
            <a:endParaRPr lang="en-US" sz="900" dirty="0"/>
          </a:p>
        </p:txBody>
      </p:sp>
      <p:sp>
        <p:nvSpPr>
          <p:cNvPr id="29" name="Text 26"/>
          <p:cNvSpPr/>
          <p:nvPr/>
        </p:nvSpPr>
        <p:spPr>
          <a:xfrm>
            <a:off x="6263640" y="3995928"/>
            <a:ext cx="2377440" cy="292608"/>
          </a:xfrm>
          <a:prstGeom prst="rect">
            <a:avLst/>
          </a:prstGeom>
          <a:noFill/>
          <a:ln/>
        </p:spPr>
        <p:txBody>
          <a:bodyPr wrap="square" lIns="0" tIns="0" rIns="0" bIns="0" rtlCol="0" anchor="ctr"/>
          <a:lstStyle/>
          <a:p>
            <a:pPr marL="0" indent="0">
              <a:buNone/>
            </a:pPr>
            <a:r>
              <a:rPr lang="en-US" sz="1000" b="1" dirty="0">
                <a:solidFill>
                  <a:srgbClr val="065A82"/>
                </a:solidFill>
              </a:rPr>
              <a:t>CLV $10,230  |  AOV $682</a:t>
            </a:r>
            <a:endParaRPr lang="en-US" sz="1000" dirty="0"/>
          </a:p>
        </p:txBody>
      </p:sp>
      <p:sp>
        <p:nvSpPr>
          <p:cNvPr id="30" name="Text 27"/>
          <p:cNvSpPr/>
          <p:nvPr/>
        </p:nvSpPr>
        <p:spPr>
          <a:xfrm>
            <a:off x="6263640" y="4325112"/>
            <a:ext cx="2377440" cy="256032"/>
          </a:xfrm>
          <a:prstGeom prst="rect">
            <a:avLst/>
          </a:prstGeom>
          <a:noFill/>
          <a:ln/>
        </p:spPr>
        <p:txBody>
          <a:bodyPr wrap="square" lIns="0" tIns="0" rIns="0" bIns="0" rtlCol="0" anchor="ctr"/>
          <a:lstStyle/>
          <a:p>
            <a:pPr marL="0" indent="0">
              <a:buNone/>
            </a:pPr>
            <a:r>
              <a:rPr lang="en-US" sz="900" dirty="0">
                <a:solidFill>
                  <a:srgbClr val="475569"/>
                </a:solidFill>
              </a:rPr>
              <a:t>Largest group — lowest per-customer value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PROBLEM 3 · LOYALTY</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200" b="1" dirty="0">
                <a:solidFill>
                  <a:srgbClr val="0A2540"/>
                </a:solidFill>
                <a:latin typeface="Cambria" pitchFamily="34" charset="0"/>
                <a:ea typeface="Cambria" pitchFamily="34" charset="-122"/>
                <a:cs typeface="Cambria" pitchFamily="34" charset="-120"/>
              </a:rPr>
              <a:t>Retention Crisis: 20%+ of Every Segment Has Gone Quiet</a:t>
            </a:r>
            <a:endParaRPr lang="en-US" sz="2200" dirty="0"/>
          </a:p>
        </p:txBody>
      </p:sp>
      <p:sp>
        <p:nvSpPr>
          <p:cNvPr id="5" name="Shape 3"/>
          <p:cNvSpPr/>
          <p:nvPr/>
        </p:nvSpPr>
        <p:spPr>
          <a:xfrm>
            <a:off x="320040" y="1188720"/>
            <a:ext cx="2926080" cy="3474720"/>
          </a:xfrm>
          <a:prstGeom prst="roundRect">
            <a:avLst>
              <a:gd name="adj" fmla="val 4375"/>
            </a:avLst>
          </a:prstGeom>
          <a:solidFill>
            <a:srgbClr val="0A2540"/>
          </a:solidFill>
          <a:ln w="12700">
            <a:solidFill>
              <a:srgbClr val="0A2540"/>
            </a:solidFill>
            <a:prstDash val="solid"/>
          </a:ln>
        </p:spPr>
        <p:txBody>
          <a:bodyPr/>
          <a:lstStyle/>
          <a:p>
            <a:endParaRPr lang="en-AE"/>
          </a:p>
        </p:txBody>
      </p:sp>
      <p:sp>
        <p:nvSpPr>
          <p:cNvPr id="6" name="Text 4"/>
          <p:cNvSpPr/>
          <p:nvPr/>
        </p:nvSpPr>
        <p:spPr>
          <a:xfrm>
            <a:off x="320040" y="1325880"/>
            <a:ext cx="2926080" cy="457200"/>
          </a:xfrm>
          <a:prstGeom prst="rect">
            <a:avLst/>
          </a:prstGeom>
          <a:noFill/>
          <a:ln/>
        </p:spPr>
        <p:txBody>
          <a:bodyPr wrap="square" lIns="0" tIns="0" rIns="0" bIns="0" rtlCol="0" anchor="ctr"/>
          <a:lstStyle/>
          <a:p>
            <a:pPr marL="0" indent="0" algn="ctr">
              <a:buNone/>
            </a:pPr>
            <a:r>
              <a:rPr lang="en-US" sz="1400" dirty="0">
                <a:solidFill>
                  <a:srgbClr val="CADCFC"/>
                </a:solidFill>
              </a:rPr>
              <a:t>Only</a:t>
            </a:r>
            <a:endParaRPr lang="en-US" sz="1400" dirty="0"/>
          </a:p>
        </p:txBody>
      </p:sp>
      <p:sp>
        <p:nvSpPr>
          <p:cNvPr id="7" name="Text 5"/>
          <p:cNvSpPr/>
          <p:nvPr/>
        </p:nvSpPr>
        <p:spPr>
          <a:xfrm>
            <a:off x="320040" y="1691640"/>
            <a:ext cx="2926080" cy="1280160"/>
          </a:xfrm>
          <a:prstGeom prst="rect">
            <a:avLst/>
          </a:prstGeom>
          <a:noFill/>
          <a:ln/>
        </p:spPr>
        <p:txBody>
          <a:bodyPr wrap="square" lIns="0" tIns="0" rIns="0" bIns="0" rtlCol="0" anchor="ctr"/>
          <a:lstStyle/>
          <a:p>
            <a:pPr marL="0" indent="0" algn="ctr">
              <a:buNone/>
            </a:pPr>
            <a:r>
              <a:rPr lang="en-US" sz="9600" b="1" dirty="0">
                <a:solidFill>
                  <a:srgbClr val="0D9488"/>
                </a:solidFill>
                <a:latin typeface="Cambria" pitchFamily="34" charset="0"/>
                <a:ea typeface="Cambria" pitchFamily="34" charset="-122"/>
                <a:cs typeface="Cambria" pitchFamily="34" charset="-120"/>
              </a:rPr>
              <a:t>9</a:t>
            </a:r>
            <a:endParaRPr lang="en-US" sz="9600" dirty="0"/>
          </a:p>
        </p:txBody>
      </p:sp>
      <p:sp>
        <p:nvSpPr>
          <p:cNvPr id="8" name="Text 6"/>
          <p:cNvSpPr/>
          <p:nvPr/>
        </p:nvSpPr>
        <p:spPr>
          <a:xfrm>
            <a:off x="320040" y="2926080"/>
            <a:ext cx="2926080" cy="411480"/>
          </a:xfrm>
          <a:prstGeom prst="rect">
            <a:avLst/>
          </a:prstGeom>
          <a:noFill/>
          <a:ln/>
        </p:spPr>
        <p:txBody>
          <a:bodyPr wrap="square" lIns="0" tIns="0" rIns="0" bIns="0" rtlCol="0" anchor="ctr"/>
          <a:lstStyle/>
          <a:p>
            <a:pPr marL="0" indent="0" algn="ctr">
              <a:buNone/>
            </a:pPr>
            <a:r>
              <a:rPr lang="en-US" sz="1300" b="1" dirty="0">
                <a:solidFill>
                  <a:srgbClr val="FFFFFF"/>
                </a:solidFill>
              </a:rPr>
              <a:t>Loyal Customers</a:t>
            </a:r>
            <a:endParaRPr lang="en-US" sz="1300" dirty="0"/>
          </a:p>
        </p:txBody>
      </p:sp>
      <p:sp>
        <p:nvSpPr>
          <p:cNvPr id="9" name="Text 7"/>
          <p:cNvSpPr/>
          <p:nvPr/>
        </p:nvSpPr>
        <p:spPr>
          <a:xfrm>
            <a:off x="320040" y="3337560"/>
            <a:ext cx="2926080" cy="502920"/>
          </a:xfrm>
          <a:prstGeom prst="rect">
            <a:avLst/>
          </a:prstGeom>
          <a:noFill/>
          <a:ln/>
        </p:spPr>
        <p:txBody>
          <a:bodyPr wrap="square" lIns="0" tIns="0" rIns="0" bIns="0" rtlCol="0" anchor="ctr"/>
          <a:lstStyle/>
          <a:p>
            <a:pPr marL="0" indent="0" algn="ctr">
              <a:buNone/>
            </a:pPr>
            <a:r>
              <a:rPr lang="en-US" sz="1000" dirty="0">
                <a:solidFill>
                  <a:srgbClr val="7FB3D3"/>
                </a:solidFill>
              </a:rPr>
              <a:t>out of 499 active customers</a:t>
            </a:r>
            <a:endParaRPr lang="en-US" sz="1000" dirty="0"/>
          </a:p>
          <a:p>
            <a:pPr marL="0" indent="0" algn="ctr">
              <a:buNone/>
            </a:pPr>
            <a:r>
              <a:rPr lang="en-US" sz="1000" dirty="0">
                <a:solidFill>
                  <a:srgbClr val="7FB3D3"/>
                </a:solidFill>
              </a:rPr>
              <a:t>(1.8% of the base)</a:t>
            </a:r>
            <a:endParaRPr lang="en-US" sz="1000" dirty="0"/>
          </a:p>
        </p:txBody>
      </p:sp>
      <p:sp>
        <p:nvSpPr>
          <p:cNvPr id="10" name="Text 8"/>
          <p:cNvSpPr/>
          <p:nvPr/>
        </p:nvSpPr>
        <p:spPr>
          <a:xfrm>
            <a:off x="320040" y="3931920"/>
            <a:ext cx="2926080" cy="502920"/>
          </a:xfrm>
          <a:prstGeom prst="rect">
            <a:avLst/>
          </a:prstGeom>
          <a:noFill/>
          <a:ln/>
        </p:spPr>
        <p:txBody>
          <a:bodyPr wrap="square" lIns="0" tIns="0" rIns="0" bIns="0" rtlCol="0" anchor="ctr"/>
          <a:lstStyle/>
          <a:p>
            <a:pPr marL="0" indent="0" algn="ctr">
              <a:buNone/>
            </a:pPr>
            <a:r>
              <a:rPr lang="en-US" sz="1000" b="1" dirty="0">
                <a:solidFill>
                  <a:srgbClr val="0D9488"/>
                </a:solidFill>
              </a:rPr>
              <a:t>197 Potential Loyalists</a:t>
            </a:r>
            <a:endParaRPr lang="en-US" sz="1000" dirty="0"/>
          </a:p>
          <a:p>
            <a:pPr marL="0" indent="0" algn="ctr">
              <a:buNone/>
            </a:pPr>
            <a:r>
              <a:rPr lang="en-US" sz="1000" b="1" dirty="0">
                <a:solidFill>
                  <a:srgbClr val="0D9488"/>
                </a:solidFill>
              </a:rPr>
              <a:t>not yet converting</a:t>
            </a:r>
            <a:endParaRPr lang="en-US" sz="1000" dirty="0"/>
          </a:p>
        </p:txBody>
      </p:sp>
      <p:sp>
        <p:nvSpPr>
          <p:cNvPr id="11" name="Text 9"/>
          <p:cNvSpPr/>
          <p:nvPr/>
        </p:nvSpPr>
        <p:spPr>
          <a:xfrm>
            <a:off x="3474720" y="1188720"/>
            <a:ext cx="5303520" cy="347472"/>
          </a:xfrm>
          <a:prstGeom prst="rect">
            <a:avLst/>
          </a:prstGeom>
          <a:noFill/>
          <a:ln/>
        </p:spPr>
        <p:txBody>
          <a:bodyPr wrap="square" lIns="0" tIns="0" rIns="0" bIns="0" rtlCol="0" anchor="ctr"/>
          <a:lstStyle/>
          <a:p>
            <a:pPr marL="0" indent="0">
              <a:buNone/>
            </a:pPr>
            <a:r>
              <a:rPr lang="en-US" sz="1200" b="1" dirty="0">
                <a:solidFill>
                  <a:srgbClr val="0A2540"/>
                </a:solidFill>
                <a:latin typeface="Cambria" pitchFamily="34" charset="0"/>
                <a:ea typeface="Cambria" pitchFamily="34" charset="-122"/>
                <a:cs typeface="Cambria" pitchFamily="34" charset="-120"/>
              </a:rPr>
              <a:t>6–12 Month Inactivity Rate by Segment</a:t>
            </a:r>
            <a:endParaRPr lang="en-US" sz="1200" dirty="0"/>
          </a:p>
        </p:txBody>
      </p:sp>
      <p:graphicFrame>
        <p:nvGraphicFramePr>
          <p:cNvPr id="12" name="Chart 0"/>
          <p:cNvGraphicFramePr/>
          <p:nvPr/>
        </p:nvGraphicFramePr>
        <p:xfrm>
          <a:off x="3383280" y="1572768"/>
          <a:ext cx="539496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3383280" y="4041648"/>
            <a:ext cx="5394960" cy="731520"/>
          </a:xfrm>
          <a:prstGeom prst="roundRect">
            <a:avLst>
              <a:gd name="adj" fmla="val 10000"/>
            </a:avLst>
          </a:prstGeom>
          <a:solidFill>
            <a:srgbClr val="FEF3C7"/>
          </a:solidFill>
          <a:ln w="12700">
            <a:solidFill>
              <a:srgbClr val="FCD34D"/>
            </a:solidFill>
            <a:prstDash val="solid"/>
          </a:ln>
        </p:spPr>
        <p:txBody>
          <a:bodyPr/>
          <a:lstStyle/>
          <a:p>
            <a:endParaRPr lang="en-AE"/>
          </a:p>
        </p:txBody>
      </p:sp>
      <p:sp>
        <p:nvSpPr>
          <p:cNvPr id="14" name="Text 11"/>
          <p:cNvSpPr/>
          <p:nvPr/>
        </p:nvSpPr>
        <p:spPr>
          <a:xfrm>
            <a:off x="3566160" y="4087368"/>
            <a:ext cx="5120640" cy="640080"/>
          </a:xfrm>
          <a:prstGeom prst="rect">
            <a:avLst/>
          </a:prstGeom>
          <a:noFill/>
          <a:ln/>
        </p:spPr>
        <p:txBody>
          <a:bodyPr wrap="square" lIns="0" tIns="0" rIns="0" bIns="0" rtlCol="0" anchor="ctr"/>
          <a:lstStyle/>
          <a:p>
            <a:pPr marL="0" indent="0">
              <a:buNone/>
            </a:pPr>
            <a:r>
              <a:rPr lang="en-US" sz="1100" dirty="0">
                <a:solidFill>
                  <a:srgbClr val="92400E"/>
                </a:solidFill>
              </a:rPr>
              <a:t>⚠️  By 2024 all four segments are declining simultaneously at -3% to -5% — a network-wide retention issue, not a segment-specific one.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82880"/>
            <a:ext cx="2011680" cy="292608"/>
          </a:xfrm>
          <a:prstGeom prst="roundRect">
            <a:avLst>
              <a:gd name="adj" fmla="val 25000"/>
            </a:avLst>
          </a:prstGeom>
          <a:solidFill>
            <a:srgbClr val="0D9488"/>
          </a:solidFill>
          <a:ln w="12700">
            <a:solidFill>
              <a:srgbClr val="0D9488"/>
            </a:solidFill>
            <a:prstDash val="solid"/>
          </a:ln>
        </p:spPr>
        <p:txBody>
          <a:bodyPr/>
          <a:lstStyle/>
          <a:p>
            <a:endParaRPr lang="en-AE"/>
          </a:p>
        </p:txBody>
      </p:sp>
      <p:sp>
        <p:nvSpPr>
          <p:cNvPr id="3" name="Text 1"/>
          <p:cNvSpPr/>
          <p:nvPr/>
        </p:nvSpPr>
        <p:spPr>
          <a:xfrm>
            <a:off x="365760" y="1828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rPr>
              <a:t>RECOMMENDATIONS</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marL="0" indent="0">
              <a:buNone/>
            </a:pPr>
            <a:r>
              <a:rPr lang="en-US" sz="2800" b="1" dirty="0">
                <a:solidFill>
                  <a:srgbClr val="0A2540"/>
                </a:solidFill>
                <a:latin typeface="Cambria" pitchFamily="34" charset="0"/>
                <a:ea typeface="Cambria" pitchFamily="34" charset="-122"/>
                <a:cs typeface="Cambria" pitchFamily="34" charset="-120"/>
              </a:rPr>
              <a:t>9 Priority Actions for 2025</a:t>
            </a:r>
            <a:endParaRPr lang="en-US" sz="2800" dirty="0"/>
          </a:p>
        </p:txBody>
      </p:sp>
      <p:sp>
        <p:nvSpPr>
          <p:cNvPr id="5" name="Shape 3"/>
          <p:cNvSpPr/>
          <p:nvPr/>
        </p:nvSpPr>
        <p:spPr>
          <a:xfrm>
            <a:off x="320040" y="1170432"/>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6" name="Shape 4"/>
          <p:cNvSpPr/>
          <p:nvPr/>
        </p:nvSpPr>
        <p:spPr>
          <a:xfrm>
            <a:off x="429768" y="1234440"/>
            <a:ext cx="256032" cy="256032"/>
          </a:xfrm>
          <a:prstGeom prst="ellipse">
            <a:avLst/>
          </a:prstGeom>
          <a:solidFill>
            <a:srgbClr val="DC2626"/>
          </a:solidFill>
          <a:ln w="12700">
            <a:solidFill>
              <a:srgbClr val="DC2626"/>
            </a:solidFill>
            <a:prstDash val="solid"/>
          </a:ln>
        </p:spPr>
        <p:txBody>
          <a:bodyPr/>
          <a:lstStyle/>
          <a:p>
            <a:endParaRPr lang="en-AE"/>
          </a:p>
        </p:txBody>
      </p:sp>
      <p:sp>
        <p:nvSpPr>
          <p:cNvPr id="7" name="Text 5"/>
          <p:cNvSpPr/>
          <p:nvPr/>
        </p:nvSpPr>
        <p:spPr>
          <a:xfrm>
            <a:off x="429768" y="123444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8" name="Text 6"/>
          <p:cNvSpPr/>
          <p:nvPr/>
        </p:nvSpPr>
        <p:spPr>
          <a:xfrm>
            <a:off x="777240" y="1216152"/>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Restock Critical Products  [Immediate]</a:t>
            </a:r>
            <a:endParaRPr lang="en-US" sz="1000" dirty="0"/>
          </a:p>
        </p:txBody>
      </p:sp>
      <p:sp>
        <p:nvSpPr>
          <p:cNvPr id="9" name="Text 7"/>
          <p:cNvSpPr/>
          <p:nvPr/>
        </p:nvSpPr>
        <p:spPr>
          <a:xfrm>
            <a:off x="3886200" y="1216152"/>
            <a:ext cx="4754880" cy="292608"/>
          </a:xfrm>
          <a:prstGeom prst="rect">
            <a:avLst/>
          </a:prstGeom>
          <a:noFill/>
          <a:ln/>
        </p:spPr>
        <p:txBody>
          <a:bodyPr wrap="square" lIns="0" tIns="0" rIns="0" bIns="0" rtlCol="0" anchor="ctr"/>
          <a:lstStyle/>
          <a:p>
            <a:pPr marL="0" indent="0">
              <a:buNone/>
            </a:pPr>
            <a:r>
              <a:rPr lang="en-US" sz="950" dirty="0">
                <a:solidFill>
                  <a:srgbClr val="475569"/>
                </a:solidFill>
              </a:rPr>
              <a:t>5 products at stockout/critical risk incl. UltraBook 15. Emergency POs required now.</a:t>
            </a:r>
            <a:endParaRPr lang="en-US" sz="950" dirty="0"/>
          </a:p>
        </p:txBody>
      </p:sp>
      <p:sp>
        <p:nvSpPr>
          <p:cNvPr id="10" name="Shape 8"/>
          <p:cNvSpPr/>
          <p:nvPr/>
        </p:nvSpPr>
        <p:spPr>
          <a:xfrm>
            <a:off x="320040" y="1595628"/>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1" name="Shape 9"/>
          <p:cNvSpPr/>
          <p:nvPr/>
        </p:nvSpPr>
        <p:spPr>
          <a:xfrm>
            <a:off x="429768" y="1659636"/>
            <a:ext cx="256032" cy="256032"/>
          </a:xfrm>
          <a:prstGeom prst="ellipse">
            <a:avLst/>
          </a:prstGeom>
          <a:solidFill>
            <a:srgbClr val="DC2626"/>
          </a:solidFill>
          <a:ln w="12700">
            <a:solidFill>
              <a:srgbClr val="DC2626"/>
            </a:solidFill>
            <a:prstDash val="solid"/>
          </a:ln>
        </p:spPr>
        <p:txBody>
          <a:bodyPr/>
          <a:lstStyle/>
          <a:p>
            <a:endParaRPr lang="en-AE"/>
          </a:p>
        </p:txBody>
      </p:sp>
      <p:sp>
        <p:nvSpPr>
          <p:cNvPr id="12" name="Text 10"/>
          <p:cNvSpPr/>
          <p:nvPr/>
        </p:nvSpPr>
        <p:spPr>
          <a:xfrm>
            <a:off x="429768" y="16596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3" name="Text 11"/>
          <p:cNvSpPr/>
          <p:nvPr/>
        </p:nvSpPr>
        <p:spPr>
          <a:xfrm>
            <a:off x="777240" y="1641348"/>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Launch Loyalty Programme  [Immediate]</a:t>
            </a:r>
            <a:endParaRPr lang="en-US" sz="1000" dirty="0"/>
          </a:p>
        </p:txBody>
      </p:sp>
      <p:sp>
        <p:nvSpPr>
          <p:cNvPr id="14" name="Text 12"/>
          <p:cNvSpPr/>
          <p:nvPr/>
        </p:nvSpPr>
        <p:spPr>
          <a:xfrm>
            <a:off x="3886200" y="1641348"/>
            <a:ext cx="4754880" cy="292608"/>
          </a:xfrm>
          <a:prstGeom prst="rect">
            <a:avLst/>
          </a:prstGeom>
          <a:noFill/>
          <a:ln/>
        </p:spPr>
        <p:txBody>
          <a:bodyPr wrap="square" lIns="0" tIns="0" rIns="0" bIns="0" rtlCol="0" anchor="ctr"/>
          <a:lstStyle/>
          <a:p>
            <a:pPr marL="0" indent="0">
              <a:buNone/>
            </a:pPr>
            <a:r>
              <a:rPr lang="en-US" sz="950" dirty="0">
                <a:solidFill>
                  <a:srgbClr val="475569"/>
                </a:solidFill>
              </a:rPr>
              <a:t>197 Potential Loyalists, only 9 Loyal Customers. Structured conversion journey needed.</a:t>
            </a:r>
            <a:endParaRPr lang="en-US" sz="950" dirty="0"/>
          </a:p>
        </p:txBody>
      </p:sp>
      <p:sp>
        <p:nvSpPr>
          <p:cNvPr id="15" name="Shape 13"/>
          <p:cNvSpPr/>
          <p:nvPr/>
        </p:nvSpPr>
        <p:spPr>
          <a:xfrm>
            <a:off x="320040" y="2020824"/>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16" name="Shape 14"/>
          <p:cNvSpPr/>
          <p:nvPr/>
        </p:nvSpPr>
        <p:spPr>
          <a:xfrm>
            <a:off x="429768" y="2084832"/>
            <a:ext cx="256032" cy="256032"/>
          </a:xfrm>
          <a:prstGeom prst="ellipse">
            <a:avLst/>
          </a:prstGeom>
          <a:solidFill>
            <a:srgbClr val="DC2626"/>
          </a:solidFill>
          <a:ln w="12700">
            <a:solidFill>
              <a:srgbClr val="DC2626"/>
            </a:solidFill>
            <a:prstDash val="solid"/>
          </a:ln>
        </p:spPr>
        <p:txBody>
          <a:bodyPr/>
          <a:lstStyle/>
          <a:p>
            <a:endParaRPr lang="en-AE"/>
          </a:p>
        </p:txBody>
      </p:sp>
      <p:sp>
        <p:nvSpPr>
          <p:cNvPr id="17" name="Text 15"/>
          <p:cNvSpPr/>
          <p:nvPr/>
        </p:nvSpPr>
        <p:spPr>
          <a:xfrm>
            <a:off x="429768" y="20848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8" name="Text 16"/>
          <p:cNvSpPr/>
          <p:nvPr/>
        </p:nvSpPr>
        <p:spPr>
          <a:xfrm>
            <a:off x="777240" y="2066544"/>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Fix Shipping &amp; Packaging  [Q1 2025]</a:t>
            </a:r>
            <a:endParaRPr lang="en-US" sz="1000" dirty="0"/>
          </a:p>
        </p:txBody>
      </p:sp>
      <p:sp>
        <p:nvSpPr>
          <p:cNvPr id="19" name="Text 17"/>
          <p:cNvSpPr/>
          <p:nvPr/>
        </p:nvSpPr>
        <p:spPr>
          <a:xfrm>
            <a:off x="3886200" y="2066544"/>
            <a:ext cx="4754880" cy="292608"/>
          </a:xfrm>
          <a:prstGeom prst="rect">
            <a:avLst/>
          </a:prstGeom>
          <a:noFill/>
          <a:ln/>
        </p:spPr>
        <p:txBody>
          <a:bodyPr wrap="square" lIns="0" tIns="0" rIns="0" bIns="0" rtlCol="0" anchor="ctr"/>
          <a:lstStyle/>
          <a:p>
            <a:pPr marL="0" indent="0">
              <a:buNone/>
            </a:pPr>
            <a:r>
              <a:rPr lang="en-US" sz="950" dirty="0">
                <a:solidFill>
                  <a:srgbClr val="475569"/>
                </a:solidFill>
              </a:rPr>
              <a:t>Damaged shipping is #1 return reason (14%). Better packaging for Electronics &amp; Home &amp; Kitchen.</a:t>
            </a:r>
            <a:endParaRPr lang="en-US" sz="950" dirty="0"/>
          </a:p>
        </p:txBody>
      </p:sp>
      <p:sp>
        <p:nvSpPr>
          <p:cNvPr id="20" name="Shape 18"/>
          <p:cNvSpPr/>
          <p:nvPr/>
        </p:nvSpPr>
        <p:spPr>
          <a:xfrm>
            <a:off x="320040" y="2446020"/>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21" name="Shape 19"/>
          <p:cNvSpPr/>
          <p:nvPr/>
        </p:nvSpPr>
        <p:spPr>
          <a:xfrm>
            <a:off x="429768" y="2510028"/>
            <a:ext cx="256032" cy="256032"/>
          </a:xfrm>
          <a:prstGeom prst="ellipse">
            <a:avLst/>
          </a:prstGeom>
          <a:solidFill>
            <a:srgbClr val="DC2626"/>
          </a:solidFill>
          <a:ln w="12700">
            <a:solidFill>
              <a:srgbClr val="DC2626"/>
            </a:solidFill>
            <a:prstDash val="solid"/>
          </a:ln>
        </p:spPr>
        <p:txBody>
          <a:bodyPr/>
          <a:lstStyle/>
          <a:p>
            <a:endParaRPr lang="en-AE"/>
          </a:p>
        </p:txBody>
      </p:sp>
      <p:sp>
        <p:nvSpPr>
          <p:cNvPr id="22" name="Text 20"/>
          <p:cNvSpPr/>
          <p:nvPr/>
        </p:nvSpPr>
        <p:spPr>
          <a:xfrm>
            <a:off x="429768" y="251002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3" name="Text 21"/>
          <p:cNvSpPr/>
          <p:nvPr/>
        </p:nvSpPr>
        <p:spPr>
          <a:xfrm>
            <a:off x="777240" y="2491740"/>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Mandate Return Reason Capture  [Q1 2025]</a:t>
            </a:r>
            <a:endParaRPr lang="en-US" sz="1000" dirty="0"/>
          </a:p>
        </p:txBody>
      </p:sp>
      <p:sp>
        <p:nvSpPr>
          <p:cNvPr id="24" name="Text 22"/>
          <p:cNvSpPr/>
          <p:nvPr/>
        </p:nvSpPr>
        <p:spPr>
          <a:xfrm>
            <a:off x="3886200" y="2491740"/>
            <a:ext cx="4754880" cy="292608"/>
          </a:xfrm>
          <a:prstGeom prst="rect">
            <a:avLst/>
          </a:prstGeom>
          <a:noFill/>
          <a:ln/>
        </p:spPr>
        <p:txBody>
          <a:bodyPr wrap="square" lIns="0" tIns="0" rIns="0" bIns="0" rtlCol="0" anchor="ctr"/>
          <a:lstStyle/>
          <a:p>
            <a:pPr marL="0" indent="0">
              <a:buNone/>
            </a:pPr>
            <a:r>
              <a:rPr lang="en-US" sz="950" dirty="0">
                <a:solidFill>
                  <a:srgbClr val="475569"/>
                </a:solidFill>
              </a:rPr>
              <a:t>12% of returns have no reason. Mandatory field in returns system for full visibility.</a:t>
            </a:r>
            <a:endParaRPr lang="en-US" sz="950" dirty="0"/>
          </a:p>
        </p:txBody>
      </p:sp>
      <p:sp>
        <p:nvSpPr>
          <p:cNvPr id="25" name="Shape 23"/>
          <p:cNvSpPr/>
          <p:nvPr/>
        </p:nvSpPr>
        <p:spPr>
          <a:xfrm>
            <a:off x="320040" y="2871216"/>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26" name="Shape 24"/>
          <p:cNvSpPr/>
          <p:nvPr/>
        </p:nvSpPr>
        <p:spPr>
          <a:xfrm>
            <a:off x="429768" y="2935224"/>
            <a:ext cx="256032" cy="256032"/>
          </a:xfrm>
          <a:prstGeom prst="ellipse">
            <a:avLst/>
          </a:prstGeom>
          <a:solidFill>
            <a:srgbClr val="D97706"/>
          </a:solidFill>
          <a:ln w="12700">
            <a:solidFill>
              <a:srgbClr val="D97706"/>
            </a:solidFill>
            <a:prstDash val="solid"/>
          </a:ln>
        </p:spPr>
        <p:txBody>
          <a:bodyPr/>
          <a:lstStyle/>
          <a:p>
            <a:endParaRPr lang="en-AE"/>
          </a:p>
        </p:txBody>
      </p:sp>
      <p:sp>
        <p:nvSpPr>
          <p:cNvPr id="27" name="Text 25"/>
          <p:cNvSpPr/>
          <p:nvPr/>
        </p:nvSpPr>
        <p:spPr>
          <a:xfrm>
            <a:off x="429768" y="293522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28" name="Text 26"/>
          <p:cNvSpPr/>
          <p:nvPr/>
        </p:nvSpPr>
        <p:spPr>
          <a:xfrm>
            <a:off x="777240" y="2916936"/>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Review Bottom-Tier Stores  [Q1 2025]</a:t>
            </a:r>
            <a:endParaRPr lang="en-US" sz="1000" dirty="0"/>
          </a:p>
        </p:txBody>
      </p:sp>
      <p:sp>
        <p:nvSpPr>
          <p:cNvPr id="29" name="Text 27"/>
          <p:cNvSpPr/>
          <p:nvPr/>
        </p:nvSpPr>
        <p:spPr>
          <a:xfrm>
            <a:off x="3886200" y="2916936"/>
            <a:ext cx="4754880" cy="292608"/>
          </a:xfrm>
          <a:prstGeom prst="rect">
            <a:avLst/>
          </a:prstGeom>
          <a:noFill/>
          <a:ln/>
        </p:spPr>
        <p:txBody>
          <a:bodyPr wrap="square" lIns="0" tIns="0" rIns="0" bIns="0" rtlCol="0" anchor="ctr"/>
          <a:lstStyle/>
          <a:p>
            <a:pPr marL="0" indent="0">
              <a:buNone/>
            </a:pPr>
            <a:r>
              <a:rPr lang="en-US" sz="950" dirty="0">
                <a:solidFill>
                  <a:srgbClr val="475569"/>
                </a:solidFill>
              </a:rPr>
              <a:t>Chicago Loop, Dallas Premium &amp; Atlanta Peachtree need reviews before 2025 expansion.</a:t>
            </a:r>
            <a:endParaRPr lang="en-US" sz="950" dirty="0"/>
          </a:p>
        </p:txBody>
      </p:sp>
      <p:sp>
        <p:nvSpPr>
          <p:cNvPr id="30" name="Shape 28"/>
          <p:cNvSpPr/>
          <p:nvPr/>
        </p:nvSpPr>
        <p:spPr>
          <a:xfrm>
            <a:off x="320040" y="3296412"/>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31" name="Shape 29"/>
          <p:cNvSpPr/>
          <p:nvPr/>
        </p:nvSpPr>
        <p:spPr>
          <a:xfrm>
            <a:off x="429768" y="3360420"/>
            <a:ext cx="256032" cy="256032"/>
          </a:xfrm>
          <a:prstGeom prst="ellipse">
            <a:avLst/>
          </a:prstGeom>
          <a:solidFill>
            <a:srgbClr val="D97706"/>
          </a:solidFill>
          <a:ln w="12700">
            <a:solidFill>
              <a:srgbClr val="D97706"/>
            </a:solidFill>
            <a:prstDash val="solid"/>
          </a:ln>
        </p:spPr>
        <p:txBody>
          <a:bodyPr/>
          <a:lstStyle/>
          <a:p>
            <a:endParaRPr lang="en-AE"/>
          </a:p>
        </p:txBody>
      </p:sp>
      <p:sp>
        <p:nvSpPr>
          <p:cNvPr id="32" name="Text 30"/>
          <p:cNvSpPr/>
          <p:nvPr/>
        </p:nvSpPr>
        <p:spPr>
          <a:xfrm>
            <a:off x="429768" y="336042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6</a:t>
            </a:r>
            <a:endParaRPr lang="en-US" sz="900" dirty="0"/>
          </a:p>
        </p:txBody>
      </p:sp>
      <p:sp>
        <p:nvSpPr>
          <p:cNvPr id="33" name="Text 31"/>
          <p:cNvSpPr/>
          <p:nvPr/>
        </p:nvSpPr>
        <p:spPr>
          <a:xfrm>
            <a:off x="777240" y="3342132"/>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Premium Customer Retention  [Q1 2025]</a:t>
            </a:r>
            <a:endParaRPr lang="en-US" sz="1000" dirty="0"/>
          </a:p>
        </p:txBody>
      </p:sp>
      <p:sp>
        <p:nvSpPr>
          <p:cNvPr id="34" name="Text 32"/>
          <p:cNvSpPr/>
          <p:nvPr/>
        </p:nvSpPr>
        <p:spPr>
          <a:xfrm>
            <a:off x="3886200" y="3342132"/>
            <a:ext cx="4754880" cy="292608"/>
          </a:xfrm>
          <a:prstGeom prst="rect">
            <a:avLst/>
          </a:prstGeom>
          <a:noFill/>
          <a:ln/>
        </p:spPr>
        <p:txBody>
          <a:bodyPr wrap="square" lIns="0" tIns="0" rIns="0" bIns="0" rtlCol="0" anchor="ctr"/>
          <a:lstStyle/>
          <a:p>
            <a:pPr marL="0" indent="0">
              <a:buNone/>
            </a:pPr>
            <a:r>
              <a:rPr lang="en-US" sz="950" dirty="0">
                <a:solidFill>
                  <a:srgbClr val="475569"/>
                </a:solidFill>
              </a:rPr>
              <a:t>61 Premium customers, CLV $11,823, segment declining. Create exclusive loyalty tier.</a:t>
            </a:r>
            <a:endParaRPr lang="en-US" sz="950" dirty="0"/>
          </a:p>
        </p:txBody>
      </p:sp>
      <p:sp>
        <p:nvSpPr>
          <p:cNvPr id="35" name="Shape 33"/>
          <p:cNvSpPr/>
          <p:nvPr/>
        </p:nvSpPr>
        <p:spPr>
          <a:xfrm>
            <a:off x="320040" y="3721608"/>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36" name="Shape 34"/>
          <p:cNvSpPr/>
          <p:nvPr/>
        </p:nvSpPr>
        <p:spPr>
          <a:xfrm>
            <a:off x="429768" y="3785616"/>
            <a:ext cx="256032" cy="256032"/>
          </a:xfrm>
          <a:prstGeom prst="ellipse">
            <a:avLst/>
          </a:prstGeom>
          <a:solidFill>
            <a:srgbClr val="D97706"/>
          </a:solidFill>
          <a:ln w="12700">
            <a:solidFill>
              <a:srgbClr val="D97706"/>
            </a:solidFill>
            <a:prstDash val="solid"/>
          </a:ln>
        </p:spPr>
        <p:txBody>
          <a:bodyPr/>
          <a:lstStyle/>
          <a:p>
            <a:endParaRPr lang="en-AE"/>
          </a:p>
        </p:txBody>
      </p:sp>
      <p:sp>
        <p:nvSpPr>
          <p:cNvPr id="37" name="Text 35"/>
          <p:cNvSpPr/>
          <p:nvPr/>
        </p:nvSpPr>
        <p:spPr>
          <a:xfrm>
            <a:off x="429768" y="378561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7</a:t>
            </a:r>
            <a:endParaRPr lang="en-US" sz="900" dirty="0"/>
          </a:p>
        </p:txBody>
      </p:sp>
      <p:sp>
        <p:nvSpPr>
          <p:cNvPr id="38" name="Text 36"/>
          <p:cNvSpPr/>
          <p:nvPr/>
        </p:nvSpPr>
        <p:spPr>
          <a:xfrm>
            <a:off x="777240" y="3767328"/>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Win-Back Lapsing Customers  [Q2 2025]</a:t>
            </a:r>
            <a:endParaRPr lang="en-US" sz="1000" dirty="0"/>
          </a:p>
        </p:txBody>
      </p:sp>
      <p:sp>
        <p:nvSpPr>
          <p:cNvPr id="39" name="Text 37"/>
          <p:cNvSpPr/>
          <p:nvPr/>
        </p:nvSpPr>
        <p:spPr>
          <a:xfrm>
            <a:off x="3886200" y="3767328"/>
            <a:ext cx="4754880" cy="292608"/>
          </a:xfrm>
          <a:prstGeom prst="rect">
            <a:avLst/>
          </a:prstGeom>
          <a:noFill/>
          <a:ln/>
        </p:spPr>
        <p:txBody>
          <a:bodyPr wrap="square" lIns="0" tIns="0" rIns="0" bIns="0" rtlCol="0" anchor="ctr"/>
          <a:lstStyle/>
          <a:p>
            <a:pPr marL="0" indent="0">
              <a:buNone/>
            </a:pPr>
            <a:r>
              <a:rPr lang="en-US" sz="950" dirty="0">
                <a:solidFill>
                  <a:srgbClr val="475569"/>
                </a:solidFill>
              </a:rPr>
              <a:t>20%+ of every segment inactive 6-12 months. Personalised offers = recoverable revenue.</a:t>
            </a:r>
            <a:endParaRPr lang="en-US" sz="950" dirty="0"/>
          </a:p>
        </p:txBody>
      </p:sp>
      <p:sp>
        <p:nvSpPr>
          <p:cNvPr id="40" name="Shape 38"/>
          <p:cNvSpPr/>
          <p:nvPr/>
        </p:nvSpPr>
        <p:spPr>
          <a:xfrm>
            <a:off x="320040" y="4146804"/>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41" name="Shape 39"/>
          <p:cNvSpPr/>
          <p:nvPr/>
        </p:nvSpPr>
        <p:spPr>
          <a:xfrm>
            <a:off x="429768" y="4210812"/>
            <a:ext cx="256032" cy="256032"/>
          </a:xfrm>
          <a:prstGeom prst="ellipse">
            <a:avLst/>
          </a:prstGeom>
          <a:solidFill>
            <a:srgbClr val="D97706"/>
          </a:solidFill>
          <a:ln w="12700">
            <a:solidFill>
              <a:srgbClr val="D97706"/>
            </a:solidFill>
            <a:prstDash val="solid"/>
          </a:ln>
        </p:spPr>
        <p:txBody>
          <a:bodyPr/>
          <a:lstStyle/>
          <a:p>
            <a:endParaRPr lang="en-AE"/>
          </a:p>
        </p:txBody>
      </p:sp>
      <p:sp>
        <p:nvSpPr>
          <p:cNvPr id="42" name="Text 40"/>
          <p:cNvSpPr/>
          <p:nvPr/>
        </p:nvSpPr>
        <p:spPr>
          <a:xfrm>
            <a:off x="429768" y="421081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8</a:t>
            </a:r>
            <a:endParaRPr lang="en-US" sz="900" dirty="0"/>
          </a:p>
        </p:txBody>
      </p:sp>
      <p:sp>
        <p:nvSpPr>
          <p:cNvPr id="43" name="Text 41"/>
          <p:cNvSpPr/>
          <p:nvPr/>
        </p:nvSpPr>
        <p:spPr>
          <a:xfrm>
            <a:off x="777240" y="4192524"/>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Invest in Online Channel  [Q2 2025]</a:t>
            </a:r>
            <a:endParaRPr lang="en-US" sz="1000" dirty="0"/>
          </a:p>
        </p:txBody>
      </p:sp>
      <p:sp>
        <p:nvSpPr>
          <p:cNvPr id="44" name="Text 42"/>
          <p:cNvSpPr/>
          <p:nvPr/>
        </p:nvSpPr>
        <p:spPr>
          <a:xfrm>
            <a:off x="3886200" y="4192524"/>
            <a:ext cx="4754880" cy="292608"/>
          </a:xfrm>
          <a:prstGeom prst="rect">
            <a:avLst/>
          </a:prstGeom>
          <a:noFill/>
          <a:ln/>
        </p:spPr>
        <p:txBody>
          <a:bodyPr wrap="square" lIns="0" tIns="0" rIns="0" bIns="0" rtlCol="0" anchor="ctr"/>
          <a:lstStyle/>
          <a:p>
            <a:pPr marL="0" indent="0">
              <a:buNone/>
            </a:pPr>
            <a:r>
              <a:rPr lang="en-US" sz="950" dirty="0">
                <a:solidFill>
                  <a:srgbClr val="475569"/>
                </a:solidFill>
              </a:rPr>
              <a:t>Online is Verve's only growing channel — growth slowing 9% to 4.7%. Invest now.</a:t>
            </a:r>
            <a:endParaRPr lang="en-US" sz="950" dirty="0"/>
          </a:p>
        </p:txBody>
      </p:sp>
      <p:sp>
        <p:nvSpPr>
          <p:cNvPr id="45" name="Shape 43"/>
          <p:cNvSpPr/>
          <p:nvPr/>
        </p:nvSpPr>
        <p:spPr>
          <a:xfrm>
            <a:off x="320040" y="4572000"/>
            <a:ext cx="8412480" cy="384048"/>
          </a:xfrm>
          <a:prstGeom prst="roundRect">
            <a:avLst>
              <a:gd name="adj" fmla="val 1904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AE"/>
          </a:p>
        </p:txBody>
      </p:sp>
      <p:sp>
        <p:nvSpPr>
          <p:cNvPr id="46" name="Shape 44"/>
          <p:cNvSpPr/>
          <p:nvPr/>
        </p:nvSpPr>
        <p:spPr>
          <a:xfrm>
            <a:off x="429768" y="4636008"/>
            <a:ext cx="256032" cy="256032"/>
          </a:xfrm>
          <a:prstGeom prst="ellipse">
            <a:avLst/>
          </a:prstGeom>
          <a:solidFill>
            <a:srgbClr val="0D9488"/>
          </a:solidFill>
          <a:ln w="12700">
            <a:solidFill>
              <a:srgbClr val="0D9488"/>
            </a:solidFill>
            <a:prstDash val="solid"/>
          </a:ln>
        </p:spPr>
        <p:txBody>
          <a:bodyPr/>
          <a:lstStyle/>
          <a:p>
            <a:endParaRPr lang="en-AE"/>
          </a:p>
        </p:txBody>
      </p:sp>
      <p:sp>
        <p:nvSpPr>
          <p:cNvPr id="47" name="Text 45"/>
          <p:cNvSpPr/>
          <p:nvPr/>
        </p:nvSpPr>
        <p:spPr>
          <a:xfrm>
            <a:off x="429768" y="463600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9</a:t>
            </a:r>
            <a:endParaRPr lang="en-US" sz="900" dirty="0"/>
          </a:p>
        </p:txBody>
      </p:sp>
      <p:sp>
        <p:nvSpPr>
          <p:cNvPr id="48" name="Text 46"/>
          <p:cNvSpPr/>
          <p:nvPr/>
        </p:nvSpPr>
        <p:spPr>
          <a:xfrm>
            <a:off x="777240" y="4617720"/>
            <a:ext cx="3017520" cy="292608"/>
          </a:xfrm>
          <a:prstGeom prst="rect">
            <a:avLst/>
          </a:prstGeom>
          <a:noFill/>
          <a:ln/>
        </p:spPr>
        <p:txBody>
          <a:bodyPr wrap="square" lIns="0" tIns="0" rIns="0" bIns="0" rtlCol="0" anchor="ctr"/>
          <a:lstStyle/>
          <a:p>
            <a:pPr marL="0" indent="0">
              <a:buNone/>
            </a:pPr>
            <a:r>
              <a:rPr lang="en-US" sz="1000" b="1" dirty="0">
                <a:solidFill>
                  <a:srgbClr val="1E293B"/>
                </a:solidFill>
              </a:rPr>
              <a:t>Competitive Electronics Pricing  [Q2 2025]</a:t>
            </a:r>
            <a:endParaRPr lang="en-US" sz="1000" dirty="0"/>
          </a:p>
        </p:txBody>
      </p:sp>
      <p:sp>
        <p:nvSpPr>
          <p:cNvPr id="49" name="Text 47"/>
          <p:cNvSpPr/>
          <p:nvPr/>
        </p:nvSpPr>
        <p:spPr>
          <a:xfrm>
            <a:off x="3886200" y="4617720"/>
            <a:ext cx="4754880" cy="292608"/>
          </a:xfrm>
          <a:prstGeom prst="rect">
            <a:avLst/>
          </a:prstGeom>
          <a:noFill/>
          <a:ln/>
        </p:spPr>
        <p:txBody>
          <a:bodyPr wrap="square" lIns="0" tIns="0" rIns="0" bIns="0" rtlCol="0" anchor="ctr"/>
          <a:lstStyle/>
          <a:p>
            <a:pPr marL="0" indent="0">
              <a:buNone/>
            </a:pPr>
            <a:r>
              <a:rPr lang="en-US" sz="950" dirty="0">
                <a:solidFill>
                  <a:srgbClr val="475569"/>
                </a:solidFill>
              </a:rPr>
              <a:t>11% of returns cite better price elsewhere. Price matching or loyalty discounts.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What Success Looks Like in 2025</a:t>
            </a:r>
            <a:endParaRPr lang="en-US" sz="2800" dirty="0"/>
          </a:p>
        </p:txBody>
      </p:sp>
      <p:sp>
        <p:nvSpPr>
          <p:cNvPr id="3" name="Text 1"/>
          <p:cNvSpPr/>
          <p:nvPr/>
        </p:nvSpPr>
        <p:spPr>
          <a:xfrm>
            <a:off x="457200" y="914400"/>
            <a:ext cx="8229600" cy="320040"/>
          </a:xfrm>
          <a:prstGeom prst="rect">
            <a:avLst/>
          </a:prstGeom>
          <a:noFill/>
          <a:ln/>
        </p:spPr>
        <p:txBody>
          <a:bodyPr wrap="square" lIns="0" tIns="0" rIns="0" bIns="0" rtlCol="0" anchor="ctr"/>
          <a:lstStyle/>
          <a:p>
            <a:pPr marL="0" indent="0" algn="ctr">
              <a:buNone/>
            </a:pPr>
            <a:r>
              <a:rPr lang="en-US" sz="1300" dirty="0">
                <a:solidFill>
                  <a:srgbClr val="7FB3D3"/>
                </a:solidFill>
              </a:rPr>
              <a:t>Three pillars for Verve's 2025 turnaround</a:t>
            </a:r>
            <a:endParaRPr lang="en-US" sz="1300" dirty="0"/>
          </a:p>
        </p:txBody>
      </p:sp>
      <p:sp>
        <p:nvSpPr>
          <p:cNvPr id="4" name="Shape 2"/>
          <p:cNvSpPr/>
          <p:nvPr/>
        </p:nvSpPr>
        <p:spPr>
          <a:xfrm>
            <a:off x="457200" y="1371600"/>
            <a:ext cx="2606040" cy="3383280"/>
          </a:xfrm>
          <a:prstGeom prst="roundRect">
            <a:avLst>
              <a:gd name="adj" fmla="val 4912"/>
            </a:avLst>
          </a:prstGeom>
          <a:solidFill>
            <a:srgbClr val="0D2B45"/>
          </a:solidFill>
          <a:ln w="25400">
            <a:solidFill>
              <a:srgbClr val="0D9488"/>
            </a:solidFill>
            <a:prstDash val="solid"/>
          </a:ln>
        </p:spPr>
        <p:txBody>
          <a:bodyPr/>
          <a:lstStyle/>
          <a:p>
            <a:endParaRPr lang="en-AE"/>
          </a:p>
        </p:txBody>
      </p:sp>
      <p:sp>
        <p:nvSpPr>
          <p:cNvPr id="5" name="Text 3"/>
          <p:cNvSpPr/>
          <p:nvPr/>
        </p:nvSpPr>
        <p:spPr>
          <a:xfrm>
            <a:off x="457200" y="1508760"/>
            <a:ext cx="260604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457200" y="1965960"/>
            <a:ext cx="2606040" cy="411480"/>
          </a:xfrm>
          <a:prstGeom prst="rect">
            <a:avLst/>
          </a:prstGeom>
          <a:noFill/>
          <a:ln/>
        </p:spPr>
        <p:txBody>
          <a:bodyPr wrap="square" lIns="0" tIns="0" rIns="0" bIns="0" rtlCol="0" anchor="ctr"/>
          <a:lstStyle/>
          <a:p>
            <a:pPr marL="0" indent="0" algn="ctr">
              <a:buNone/>
            </a:pPr>
            <a:r>
              <a:rPr lang="en-US" sz="1800" b="1" kern="0" spc="300" dirty="0">
                <a:solidFill>
                  <a:srgbClr val="0D9488"/>
                </a:solidFill>
                <a:latin typeface="Cambria" pitchFamily="34" charset="0"/>
                <a:ea typeface="Cambria" pitchFamily="34" charset="-122"/>
                <a:cs typeface="Cambria" pitchFamily="34" charset="-120"/>
              </a:rPr>
              <a:t>RETAIN</a:t>
            </a:r>
            <a:endParaRPr lang="en-US" sz="1800" dirty="0"/>
          </a:p>
        </p:txBody>
      </p:sp>
      <p:sp>
        <p:nvSpPr>
          <p:cNvPr id="7" name="Shape 5"/>
          <p:cNvSpPr/>
          <p:nvPr/>
        </p:nvSpPr>
        <p:spPr>
          <a:xfrm>
            <a:off x="594360" y="2624328"/>
            <a:ext cx="109728" cy="109728"/>
          </a:xfrm>
          <a:prstGeom prst="ellipse">
            <a:avLst/>
          </a:prstGeom>
          <a:solidFill>
            <a:srgbClr val="0D9488"/>
          </a:solidFill>
          <a:ln w="12700">
            <a:solidFill>
              <a:srgbClr val="0D9488"/>
            </a:solidFill>
            <a:prstDash val="solid"/>
          </a:ln>
        </p:spPr>
        <p:txBody>
          <a:bodyPr/>
          <a:lstStyle/>
          <a:p>
            <a:endParaRPr lang="en-AE"/>
          </a:p>
        </p:txBody>
      </p:sp>
      <p:sp>
        <p:nvSpPr>
          <p:cNvPr id="8" name="Text 6"/>
          <p:cNvSpPr/>
          <p:nvPr/>
        </p:nvSpPr>
        <p:spPr>
          <a:xfrm>
            <a:off x="758952" y="2468880"/>
            <a:ext cx="2167128" cy="475488"/>
          </a:xfrm>
          <a:prstGeom prst="rect">
            <a:avLst/>
          </a:prstGeom>
          <a:noFill/>
          <a:ln/>
        </p:spPr>
        <p:txBody>
          <a:bodyPr wrap="square" lIns="0" tIns="0" rIns="0" bIns="0" rtlCol="0" anchor="t"/>
          <a:lstStyle/>
          <a:p>
            <a:pPr marL="0" indent="0">
              <a:buNone/>
            </a:pPr>
            <a:r>
              <a:rPr lang="en-US" sz="1000" dirty="0">
                <a:solidFill>
                  <a:srgbClr val="CBD5E1"/>
                </a:solidFill>
              </a:rPr>
              <a:t>Return rate below 15% by end of 2025</a:t>
            </a:r>
            <a:endParaRPr lang="en-US" sz="1000" dirty="0"/>
          </a:p>
        </p:txBody>
      </p:sp>
      <p:sp>
        <p:nvSpPr>
          <p:cNvPr id="9" name="Shape 7"/>
          <p:cNvSpPr/>
          <p:nvPr/>
        </p:nvSpPr>
        <p:spPr>
          <a:xfrm>
            <a:off x="594360" y="3172968"/>
            <a:ext cx="109728" cy="109728"/>
          </a:xfrm>
          <a:prstGeom prst="ellipse">
            <a:avLst/>
          </a:prstGeom>
          <a:solidFill>
            <a:srgbClr val="0D9488"/>
          </a:solidFill>
          <a:ln w="12700">
            <a:solidFill>
              <a:srgbClr val="0D9488"/>
            </a:solidFill>
            <a:prstDash val="solid"/>
          </a:ln>
        </p:spPr>
        <p:txBody>
          <a:bodyPr/>
          <a:lstStyle/>
          <a:p>
            <a:endParaRPr lang="en-AE"/>
          </a:p>
        </p:txBody>
      </p:sp>
      <p:sp>
        <p:nvSpPr>
          <p:cNvPr id="10" name="Text 8"/>
          <p:cNvSpPr/>
          <p:nvPr/>
        </p:nvSpPr>
        <p:spPr>
          <a:xfrm>
            <a:off x="758952" y="3017520"/>
            <a:ext cx="2167128" cy="475488"/>
          </a:xfrm>
          <a:prstGeom prst="rect">
            <a:avLst/>
          </a:prstGeom>
          <a:noFill/>
          <a:ln/>
        </p:spPr>
        <p:txBody>
          <a:bodyPr wrap="square" lIns="0" tIns="0" rIns="0" bIns="0" rtlCol="0" anchor="t"/>
          <a:lstStyle/>
          <a:p>
            <a:pPr marL="0" indent="0">
              <a:buNone/>
            </a:pPr>
            <a:r>
              <a:rPr lang="en-US" sz="1000" dirty="0">
                <a:solidFill>
                  <a:srgbClr val="CBD5E1"/>
                </a:solidFill>
              </a:rPr>
              <a:t>Premium segment stabilised with exclusive tier</a:t>
            </a:r>
            <a:endParaRPr lang="en-US" sz="1000" dirty="0"/>
          </a:p>
        </p:txBody>
      </p:sp>
      <p:sp>
        <p:nvSpPr>
          <p:cNvPr id="11" name="Shape 9"/>
          <p:cNvSpPr/>
          <p:nvPr/>
        </p:nvSpPr>
        <p:spPr>
          <a:xfrm>
            <a:off x="594360" y="3721608"/>
            <a:ext cx="109728" cy="109728"/>
          </a:xfrm>
          <a:prstGeom prst="ellipse">
            <a:avLst/>
          </a:prstGeom>
          <a:solidFill>
            <a:srgbClr val="0D9488"/>
          </a:solidFill>
          <a:ln w="12700">
            <a:solidFill>
              <a:srgbClr val="0D9488"/>
            </a:solidFill>
            <a:prstDash val="solid"/>
          </a:ln>
        </p:spPr>
        <p:txBody>
          <a:bodyPr/>
          <a:lstStyle/>
          <a:p>
            <a:endParaRPr lang="en-AE"/>
          </a:p>
        </p:txBody>
      </p:sp>
      <p:sp>
        <p:nvSpPr>
          <p:cNvPr id="12" name="Text 10"/>
          <p:cNvSpPr/>
          <p:nvPr/>
        </p:nvSpPr>
        <p:spPr>
          <a:xfrm>
            <a:off x="758952" y="3566160"/>
            <a:ext cx="2167128" cy="475488"/>
          </a:xfrm>
          <a:prstGeom prst="rect">
            <a:avLst/>
          </a:prstGeom>
          <a:noFill/>
          <a:ln/>
        </p:spPr>
        <p:txBody>
          <a:bodyPr wrap="square" lIns="0" tIns="0" rIns="0" bIns="0" rtlCol="0" anchor="t"/>
          <a:lstStyle/>
          <a:p>
            <a:pPr marL="0" indent="0">
              <a:buNone/>
            </a:pPr>
            <a:r>
              <a:rPr lang="en-US" sz="1000" dirty="0">
                <a:solidFill>
                  <a:srgbClr val="CBD5E1"/>
                </a:solidFill>
              </a:rPr>
              <a:t>Lapsing customers re-engaged via win-back campaign</a:t>
            </a:r>
            <a:endParaRPr lang="en-US" sz="1000" dirty="0"/>
          </a:p>
        </p:txBody>
      </p:sp>
      <p:sp>
        <p:nvSpPr>
          <p:cNvPr id="13" name="Shape 11"/>
          <p:cNvSpPr/>
          <p:nvPr/>
        </p:nvSpPr>
        <p:spPr>
          <a:xfrm>
            <a:off x="594360" y="4270248"/>
            <a:ext cx="109728" cy="109728"/>
          </a:xfrm>
          <a:prstGeom prst="ellipse">
            <a:avLst/>
          </a:prstGeom>
          <a:solidFill>
            <a:srgbClr val="0D9488"/>
          </a:solidFill>
          <a:ln w="12700">
            <a:solidFill>
              <a:srgbClr val="0D9488"/>
            </a:solidFill>
            <a:prstDash val="solid"/>
          </a:ln>
        </p:spPr>
        <p:txBody>
          <a:bodyPr/>
          <a:lstStyle/>
          <a:p>
            <a:endParaRPr lang="en-AE"/>
          </a:p>
        </p:txBody>
      </p:sp>
      <p:sp>
        <p:nvSpPr>
          <p:cNvPr id="14" name="Text 12"/>
          <p:cNvSpPr/>
          <p:nvPr/>
        </p:nvSpPr>
        <p:spPr>
          <a:xfrm>
            <a:off x="758952" y="4114800"/>
            <a:ext cx="2167128" cy="475488"/>
          </a:xfrm>
          <a:prstGeom prst="rect">
            <a:avLst/>
          </a:prstGeom>
          <a:noFill/>
          <a:ln/>
        </p:spPr>
        <p:txBody>
          <a:bodyPr wrap="square" lIns="0" tIns="0" rIns="0" bIns="0" rtlCol="0" anchor="t"/>
          <a:lstStyle/>
          <a:p>
            <a:pPr marL="0" indent="0">
              <a:buNone/>
            </a:pPr>
            <a:r>
              <a:rPr lang="en-US" sz="1000" dirty="0">
                <a:solidFill>
                  <a:srgbClr val="CBD5E1"/>
                </a:solidFill>
              </a:rPr>
              <a:t>Loyal Customer segment growing from 9 to 40+</a:t>
            </a:r>
            <a:endParaRPr lang="en-US" sz="1000" dirty="0"/>
          </a:p>
        </p:txBody>
      </p:sp>
      <p:sp>
        <p:nvSpPr>
          <p:cNvPr id="15" name="Shape 13"/>
          <p:cNvSpPr/>
          <p:nvPr/>
        </p:nvSpPr>
        <p:spPr>
          <a:xfrm>
            <a:off x="3337560" y="1371600"/>
            <a:ext cx="2606040" cy="3383280"/>
          </a:xfrm>
          <a:prstGeom prst="roundRect">
            <a:avLst>
              <a:gd name="adj" fmla="val 4912"/>
            </a:avLst>
          </a:prstGeom>
          <a:solidFill>
            <a:srgbClr val="0D2B45"/>
          </a:solidFill>
          <a:ln w="25400">
            <a:solidFill>
              <a:srgbClr val="D97706"/>
            </a:solidFill>
            <a:prstDash val="solid"/>
          </a:ln>
        </p:spPr>
        <p:txBody>
          <a:bodyPr/>
          <a:lstStyle/>
          <a:p>
            <a:endParaRPr lang="en-AE"/>
          </a:p>
        </p:txBody>
      </p:sp>
      <p:sp>
        <p:nvSpPr>
          <p:cNvPr id="16" name="Text 14"/>
          <p:cNvSpPr/>
          <p:nvPr/>
        </p:nvSpPr>
        <p:spPr>
          <a:xfrm>
            <a:off x="3337560" y="1508760"/>
            <a:ext cx="260604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3337560" y="1965960"/>
            <a:ext cx="2606040" cy="411480"/>
          </a:xfrm>
          <a:prstGeom prst="rect">
            <a:avLst/>
          </a:prstGeom>
          <a:noFill/>
          <a:ln/>
        </p:spPr>
        <p:txBody>
          <a:bodyPr wrap="square" lIns="0" tIns="0" rIns="0" bIns="0" rtlCol="0" anchor="ctr"/>
          <a:lstStyle/>
          <a:p>
            <a:pPr marL="0" indent="0" algn="ctr">
              <a:buNone/>
            </a:pPr>
            <a:r>
              <a:rPr lang="en-US" sz="1800" b="1" kern="0" spc="300" dirty="0">
                <a:solidFill>
                  <a:srgbClr val="D97706"/>
                </a:solidFill>
                <a:latin typeface="Cambria" pitchFamily="34" charset="0"/>
                <a:ea typeface="Cambria" pitchFamily="34" charset="-122"/>
                <a:cs typeface="Cambria" pitchFamily="34" charset="-120"/>
              </a:rPr>
              <a:t>FIX</a:t>
            </a:r>
            <a:endParaRPr lang="en-US" sz="1800" dirty="0"/>
          </a:p>
        </p:txBody>
      </p:sp>
      <p:sp>
        <p:nvSpPr>
          <p:cNvPr id="18" name="Shape 16"/>
          <p:cNvSpPr/>
          <p:nvPr/>
        </p:nvSpPr>
        <p:spPr>
          <a:xfrm>
            <a:off x="3474720" y="2624328"/>
            <a:ext cx="109728" cy="109728"/>
          </a:xfrm>
          <a:prstGeom prst="ellipse">
            <a:avLst/>
          </a:prstGeom>
          <a:solidFill>
            <a:srgbClr val="D97706"/>
          </a:solidFill>
          <a:ln w="12700">
            <a:solidFill>
              <a:srgbClr val="D97706"/>
            </a:solidFill>
            <a:prstDash val="solid"/>
          </a:ln>
        </p:spPr>
        <p:txBody>
          <a:bodyPr/>
          <a:lstStyle/>
          <a:p>
            <a:endParaRPr lang="en-AE"/>
          </a:p>
        </p:txBody>
      </p:sp>
      <p:sp>
        <p:nvSpPr>
          <p:cNvPr id="19" name="Text 17"/>
          <p:cNvSpPr/>
          <p:nvPr/>
        </p:nvSpPr>
        <p:spPr>
          <a:xfrm>
            <a:off x="3639312" y="2468880"/>
            <a:ext cx="2167128" cy="475488"/>
          </a:xfrm>
          <a:prstGeom prst="rect">
            <a:avLst/>
          </a:prstGeom>
          <a:noFill/>
          <a:ln/>
        </p:spPr>
        <p:txBody>
          <a:bodyPr wrap="square" lIns="0" tIns="0" rIns="0" bIns="0" rtlCol="0" anchor="t"/>
          <a:lstStyle/>
          <a:p>
            <a:pPr marL="0" indent="0">
              <a:buNone/>
            </a:pPr>
            <a:r>
              <a:rPr lang="en-US" sz="1000" dirty="0">
                <a:solidFill>
                  <a:srgbClr val="CBD5E1"/>
                </a:solidFill>
              </a:rPr>
              <a:t>All stockout products restocked before Q1</a:t>
            </a:r>
            <a:endParaRPr lang="en-US" sz="1000" dirty="0"/>
          </a:p>
        </p:txBody>
      </p:sp>
      <p:sp>
        <p:nvSpPr>
          <p:cNvPr id="20" name="Shape 18"/>
          <p:cNvSpPr/>
          <p:nvPr/>
        </p:nvSpPr>
        <p:spPr>
          <a:xfrm>
            <a:off x="3474720" y="3172968"/>
            <a:ext cx="109728" cy="109728"/>
          </a:xfrm>
          <a:prstGeom prst="ellipse">
            <a:avLst/>
          </a:prstGeom>
          <a:solidFill>
            <a:srgbClr val="D97706"/>
          </a:solidFill>
          <a:ln w="12700">
            <a:solidFill>
              <a:srgbClr val="D97706"/>
            </a:solidFill>
            <a:prstDash val="solid"/>
          </a:ln>
        </p:spPr>
        <p:txBody>
          <a:bodyPr/>
          <a:lstStyle/>
          <a:p>
            <a:endParaRPr lang="en-AE"/>
          </a:p>
        </p:txBody>
      </p:sp>
      <p:sp>
        <p:nvSpPr>
          <p:cNvPr id="21" name="Text 19"/>
          <p:cNvSpPr/>
          <p:nvPr/>
        </p:nvSpPr>
        <p:spPr>
          <a:xfrm>
            <a:off x="3639312" y="3017520"/>
            <a:ext cx="2167128" cy="475488"/>
          </a:xfrm>
          <a:prstGeom prst="rect">
            <a:avLst/>
          </a:prstGeom>
          <a:noFill/>
          <a:ln/>
        </p:spPr>
        <p:txBody>
          <a:bodyPr wrap="square" lIns="0" tIns="0" rIns="0" bIns="0" rtlCol="0" anchor="t"/>
          <a:lstStyle/>
          <a:p>
            <a:pPr marL="0" indent="0">
              <a:buNone/>
            </a:pPr>
            <a:r>
              <a:rPr lang="en-US" sz="1000" dirty="0">
                <a:solidFill>
                  <a:srgbClr val="CBD5E1"/>
                </a:solidFill>
              </a:rPr>
              <a:t>Damaged shipping returns reduced by 30%+</a:t>
            </a:r>
            <a:endParaRPr lang="en-US" sz="1000" dirty="0"/>
          </a:p>
        </p:txBody>
      </p:sp>
      <p:sp>
        <p:nvSpPr>
          <p:cNvPr id="22" name="Shape 20"/>
          <p:cNvSpPr/>
          <p:nvPr/>
        </p:nvSpPr>
        <p:spPr>
          <a:xfrm>
            <a:off x="3474720" y="3721608"/>
            <a:ext cx="109728" cy="109728"/>
          </a:xfrm>
          <a:prstGeom prst="ellipse">
            <a:avLst/>
          </a:prstGeom>
          <a:solidFill>
            <a:srgbClr val="D97706"/>
          </a:solidFill>
          <a:ln w="12700">
            <a:solidFill>
              <a:srgbClr val="D97706"/>
            </a:solidFill>
            <a:prstDash val="solid"/>
          </a:ln>
        </p:spPr>
        <p:txBody>
          <a:bodyPr/>
          <a:lstStyle/>
          <a:p>
            <a:endParaRPr lang="en-AE"/>
          </a:p>
        </p:txBody>
      </p:sp>
      <p:sp>
        <p:nvSpPr>
          <p:cNvPr id="23" name="Text 21"/>
          <p:cNvSpPr/>
          <p:nvPr/>
        </p:nvSpPr>
        <p:spPr>
          <a:xfrm>
            <a:off x="3639312" y="3566160"/>
            <a:ext cx="2167128" cy="475488"/>
          </a:xfrm>
          <a:prstGeom prst="rect">
            <a:avLst/>
          </a:prstGeom>
          <a:noFill/>
          <a:ln/>
        </p:spPr>
        <p:txBody>
          <a:bodyPr wrap="square" lIns="0" tIns="0" rIns="0" bIns="0" rtlCol="0" anchor="t"/>
          <a:lstStyle/>
          <a:p>
            <a:pPr marL="0" indent="0">
              <a:buNone/>
            </a:pPr>
            <a:r>
              <a:rPr lang="en-US" sz="1000" dirty="0">
                <a:solidFill>
                  <a:srgbClr val="CBD5E1"/>
                </a:solidFill>
              </a:rPr>
              <a:t>100% return reasons captured (no more unknowns)</a:t>
            </a:r>
            <a:endParaRPr lang="en-US" sz="1000" dirty="0"/>
          </a:p>
        </p:txBody>
      </p:sp>
      <p:sp>
        <p:nvSpPr>
          <p:cNvPr id="24" name="Shape 22"/>
          <p:cNvSpPr/>
          <p:nvPr/>
        </p:nvSpPr>
        <p:spPr>
          <a:xfrm>
            <a:off x="3474720" y="4270248"/>
            <a:ext cx="109728" cy="109728"/>
          </a:xfrm>
          <a:prstGeom prst="ellipse">
            <a:avLst/>
          </a:prstGeom>
          <a:solidFill>
            <a:srgbClr val="D97706"/>
          </a:solidFill>
          <a:ln w="12700">
            <a:solidFill>
              <a:srgbClr val="D97706"/>
            </a:solidFill>
            <a:prstDash val="solid"/>
          </a:ln>
        </p:spPr>
        <p:txBody>
          <a:bodyPr/>
          <a:lstStyle/>
          <a:p>
            <a:endParaRPr lang="en-AE"/>
          </a:p>
        </p:txBody>
      </p:sp>
      <p:sp>
        <p:nvSpPr>
          <p:cNvPr id="25" name="Text 23"/>
          <p:cNvSpPr/>
          <p:nvPr/>
        </p:nvSpPr>
        <p:spPr>
          <a:xfrm>
            <a:off x="3639312" y="4114800"/>
            <a:ext cx="2167128" cy="475488"/>
          </a:xfrm>
          <a:prstGeom prst="rect">
            <a:avLst/>
          </a:prstGeom>
          <a:noFill/>
          <a:ln/>
        </p:spPr>
        <p:txBody>
          <a:bodyPr wrap="square" lIns="0" tIns="0" rIns="0" bIns="0" rtlCol="0" anchor="t"/>
          <a:lstStyle/>
          <a:p>
            <a:pPr marL="0" indent="0">
              <a:buNone/>
            </a:pPr>
            <a:r>
              <a:rPr lang="en-US" sz="1000" dirty="0">
                <a:solidFill>
                  <a:srgbClr val="CBD5E1"/>
                </a:solidFill>
              </a:rPr>
              <a:t>Bottom-tier stores reviewed and action plans set</a:t>
            </a:r>
            <a:endParaRPr lang="en-US" sz="1000" dirty="0"/>
          </a:p>
        </p:txBody>
      </p:sp>
      <p:sp>
        <p:nvSpPr>
          <p:cNvPr id="26" name="Shape 24"/>
          <p:cNvSpPr/>
          <p:nvPr/>
        </p:nvSpPr>
        <p:spPr>
          <a:xfrm>
            <a:off x="6217920" y="1371600"/>
            <a:ext cx="2606040" cy="3383280"/>
          </a:xfrm>
          <a:prstGeom prst="roundRect">
            <a:avLst>
              <a:gd name="adj" fmla="val 4912"/>
            </a:avLst>
          </a:prstGeom>
          <a:solidFill>
            <a:srgbClr val="0D2B45"/>
          </a:solidFill>
          <a:ln w="25400">
            <a:solidFill>
              <a:srgbClr val="60A5FA"/>
            </a:solidFill>
            <a:prstDash val="solid"/>
          </a:ln>
        </p:spPr>
        <p:txBody>
          <a:bodyPr/>
          <a:lstStyle/>
          <a:p>
            <a:endParaRPr lang="en-AE"/>
          </a:p>
        </p:txBody>
      </p:sp>
      <p:sp>
        <p:nvSpPr>
          <p:cNvPr id="27" name="Text 25"/>
          <p:cNvSpPr/>
          <p:nvPr/>
        </p:nvSpPr>
        <p:spPr>
          <a:xfrm>
            <a:off x="6217920" y="1508760"/>
            <a:ext cx="260604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6217920" y="1965960"/>
            <a:ext cx="2606040" cy="411480"/>
          </a:xfrm>
          <a:prstGeom prst="rect">
            <a:avLst/>
          </a:prstGeom>
          <a:noFill/>
          <a:ln/>
        </p:spPr>
        <p:txBody>
          <a:bodyPr wrap="square" lIns="0" tIns="0" rIns="0" bIns="0" rtlCol="0" anchor="ctr"/>
          <a:lstStyle/>
          <a:p>
            <a:pPr marL="0" indent="0" algn="ctr">
              <a:buNone/>
            </a:pPr>
            <a:r>
              <a:rPr lang="en-US" sz="1800" b="1" kern="0" spc="300" dirty="0">
                <a:solidFill>
                  <a:srgbClr val="60A5FA"/>
                </a:solidFill>
                <a:latin typeface="Cambria" pitchFamily="34" charset="0"/>
                <a:ea typeface="Cambria" pitchFamily="34" charset="-122"/>
                <a:cs typeface="Cambria" pitchFamily="34" charset="-120"/>
              </a:rPr>
              <a:t>GROW</a:t>
            </a:r>
            <a:endParaRPr lang="en-US" sz="1800" dirty="0"/>
          </a:p>
        </p:txBody>
      </p:sp>
      <p:sp>
        <p:nvSpPr>
          <p:cNvPr id="29" name="Shape 27"/>
          <p:cNvSpPr/>
          <p:nvPr/>
        </p:nvSpPr>
        <p:spPr>
          <a:xfrm>
            <a:off x="6355080" y="2624328"/>
            <a:ext cx="109728" cy="109728"/>
          </a:xfrm>
          <a:prstGeom prst="ellipse">
            <a:avLst/>
          </a:prstGeom>
          <a:solidFill>
            <a:srgbClr val="60A5FA"/>
          </a:solidFill>
          <a:ln w="12700">
            <a:solidFill>
              <a:srgbClr val="60A5FA"/>
            </a:solidFill>
            <a:prstDash val="solid"/>
          </a:ln>
        </p:spPr>
        <p:txBody>
          <a:bodyPr/>
          <a:lstStyle/>
          <a:p>
            <a:endParaRPr lang="en-AE"/>
          </a:p>
        </p:txBody>
      </p:sp>
      <p:sp>
        <p:nvSpPr>
          <p:cNvPr id="30" name="Text 28"/>
          <p:cNvSpPr/>
          <p:nvPr/>
        </p:nvSpPr>
        <p:spPr>
          <a:xfrm>
            <a:off x="6519672" y="2468880"/>
            <a:ext cx="2167128" cy="475488"/>
          </a:xfrm>
          <a:prstGeom prst="rect">
            <a:avLst/>
          </a:prstGeom>
          <a:noFill/>
          <a:ln/>
        </p:spPr>
        <p:txBody>
          <a:bodyPr wrap="square" lIns="0" tIns="0" rIns="0" bIns="0" rtlCol="0" anchor="t"/>
          <a:lstStyle/>
          <a:p>
            <a:pPr marL="0" indent="0">
              <a:buNone/>
            </a:pPr>
            <a:r>
              <a:rPr lang="en-US" sz="1000" dirty="0">
                <a:solidFill>
                  <a:srgbClr val="CBD5E1"/>
                </a:solidFill>
              </a:rPr>
              <a:t>Online channel growth reignited above 10%</a:t>
            </a:r>
            <a:endParaRPr lang="en-US" sz="1000" dirty="0"/>
          </a:p>
        </p:txBody>
      </p:sp>
      <p:sp>
        <p:nvSpPr>
          <p:cNvPr id="31" name="Shape 29"/>
          <p:cNvSpPr/>
          <p:nvPr/>
        </p:nvSpPr>
        <p:spPr>
          <a:xfrm>
            <a:off x="6355080" y="3172968"/>
            <a:ext cx="109728" cy="109728"/>
          </a:xfrm>
          <a:prstGeom prst="ellipse">
            <a:avLst/>
          </a:prstGeom>
          <a:solidFill>
            <a:srgbClr val="60A5FA"/>
          </a:solidFill>
          <a:ln w="12700">
            <a:solidFill>
              <a:srgbClr val="60A5FA"/>
            </a:solidFill>
            <a:prstDash val="solid"/>
          </a:ln>
        </p:spPr>
        <p:txBody>
          <a:bodyPr/>
          <a:lstStyle/>
          <a:p>
            <a:endParaRPr lang="en-AE"/>
          </a:p>
        </p:txBody>
      </p:sp>
      <p:sp>
        <p:nvSpPr>
          <p:cNvPr id="32" name="Text 30"/>
          <p:cNvSpPr/>
          <p:nvPr/>
        </p:nvSpPr>
        <p:spPr>
          <a:xfrm>
            <a:off x="6519672" y="3017520"/>
            <a:ext cx="2167128" cy="475488"/>
          </a:xfrm>
          <a:prstGeom prst="rect">
            <a:avLst/>
          </a:prstGeom>
          <a:noFill/>
          <a:ln/>
        </p:spPr>
        <p:txBody>
          <a:bodyPr wrap="square" lIns="0" tIns="0" rIns="0" bIns="0" rtlCol="0" anchor="t"/>
          <a:lstStyle/>
          <a:p>
            <a:pPr marL="0" indent="0">
              <a:buNone/>
            </a:pPr>
            <a:r>
              <a:rPr lang="en-US" sz="1000" dirty="0">
                <a:solidFill>
                  <a:srgbClr val="CBD5E1"/>
                </a:solidFill>
              </a:rPr>
              <a:t>Loyalty programme driving repeat purchase rate up</a:t>
            </a:r>
            <a:endParaRPr lang="en-US" sz="1000" dirty="0"/>
          </a:p>
        </p:txBody>
      </p:sp>
      <p:sp>
        <p:nvSpPr>
          <p:cNvPr id="33" name="Shape 31"/>
          <p:cNvSpPr/>
          <p:nvPr/>
        </p:nvSpPr>
        <p:spPr>
          <a:xfrm>
            <a:off x="6355080" y="3721608"/>
            <a:ext cx="109728" cy="109728"/>
          </a:xfrm>
          <a:prstGeom prst="ellipse">
            <a:avLst/>
          </a:prstGeom>
          <a:solidFill>
            <a:srgbClr val="60A5FA"/>
          </a:solidFill>
          <a:ln w="12700">
            <a:solidFill>
              <a:srgbClr val="60A5FA"/>
            </a:solidFill>
            <a:prstDash val="solid"/>
          </a:ln>
        </p:spPr>
        <p:txBody>
          <a:bodyPr/>
          <a:lstStyle/>
          <a:p>
            <a:endParaRPr lang="en-AE"/>
          </a:p>
        </p:txBody>
      </p:sp>
      <p:sp>
        <p:nvSpPr>
          <p:cNvPr id="34" name="Text 32"/>
          <p:cNvSpPr/>
          <p:nvPr/>
        </p:nvSpPr>
        <p:spPr>
          <a:xfrm>
            <a:off x="6519672" y="3566160"/>
            <a:ext cx="2167128" cy="475488"/>
          </a:xfrm>
          <a:prstGeom prst="rect">
            <a:avLst/>
          </a:prstGeom>
          <a:noFill/>
          <a:ln/>
        </p:spPr>
        <p:txBody>
          <a:bodyPr wrap="square" lIns="0" tIns="0" rIns="0" bIns="0" rtlCol="0" anchor="t"/>
          <a:lstStyle/>
          <a:p>
            <a:pPr marL="0" indent="0">
              <a:buNone/>
            </a:pPr>
            <a:r>
              <a:rPr lang="en-US" sz="1000" dirty="0">
                <a:solidFill>
                  <a:srgbClr val="CBD5E1"/>
                </a:solidFill>
              </a:rPr>
              <a:t>New store openings backed by data, not assumption</a:t>
            </a:r>
            <a:endParaRPr lang="en-US" sz="1000" dirty="0"/>
          </a:p>
        </p:txBody>
      </p:sp>
      <p:sp>
        <p:nvSpPr>
          <p:cNvPr id="35" name="Shape 33"/>
          <p:cNvSpPr/>
          <p:nvPr/>
        </p:nvSpPr>
        <p:spPr>
          <a:xfrm>
            <a:off x="6355080" y="4270248"/>
            <a:ext cx="109728" cy="109728"/>
          </a:xfrm>
          <a:prstGeom prst="ellipse">
            <a:avLst/>
          </a:prstGeom>
          <a:solidFill>
            <a:srgbClr val="60A5FA"/>
          </a:solidFill>
          <a:ln w="12700">
            <a:solidFill>
              <a:srgbClr val="60A5FA"/>
            </a:solidFill>
            <a:prstDash val="solid"/>
          </a:ln>
        </p:spPr>
        <p:txBody>
          <a:bodyPr/>
          <a:lstStyle/>
          <a:p>
            <a:endParaRPr lang="en-AE"/>
          </a:p>
        </p:txBody>
      </p:sp>
      <p:sp>
        <p:nvSpPr>
          <p:cNvPr id="36" name="Text 34"/>
          <p:cNvSpPr/>
          <p:nvPr/>
        </p:nvSpPr>
        <p:spPr>
          <a:xfrm>
            <a:off x="6519672" y="4114800"/>
            <a:ext cx="2167128" cy="475488"/>
          </a:xfrm>
          <a:prstGeom prst="rect">
            <a:avLst/>
          </a:prstGeom>
          <a:noFill/>
          <a:ln/>
        </p:spPr>
        <p:txBody>
          <a:bodyPr wrap="square" lIns="0" tIns="0" rIns="0" bIns="0" rtlCol="0" anchor="t"/>
          <a:lstStyle/>
          <a:p>
            <a:pPr marL="0" indent="0">
              <a:buNone/>
            </a:pPr>
            <a:r>
              <a:rPr lang="en-US" sz="1000" dirty="0">
                <a:solidFill>
                  <a:srgbClr val="CBD5E1"/>
                </a:solidFill>
              </a:rPr>
              <a:t>Electronics revenue protected through pricing strategy</a:t>
            </a:r>
            <a:endParaRPr lang="en-US" sz="1000" dirty="0"/>
          </a:p>
        </p:txBody>
      </p:sp>
      <p:sp>
        <p:nvSpPr>
          <p:cNvPr id="37" name="Text 35"/>
          <p:cNvSpPr/>
          <p:nvPr/>
        </p:nvSpPr>
        <p:spPr>
          <a:xfrm>
            <a:off x="457200" y="4754880"/>
            <a:ext cx="8229600" cy="320040"/>
          </a:xfrm>
          <a:prstGeom prst="rect">
            <a:avLst/>
          </a:prstGeom>
          <a:noFill/>
          <a:ln/>
        </p:spPr>
        <p:txBody>
          <a:bodyPr wrap="square" lIns="0" tIns="0" rIns="0" bIns="0" rtlCol="0" anchor="ctr"/>
          <a:lstStyle/>
          <a:p>
            <a:pPr marL="0" indent="0" algn="ctr">
              <a:buNone/>
            </a:pPr>
            <a:r>
              <a:rPr lang="en-US" sz="1200" i="1" dirty="0">
                <a:solidFill>
                  <a:srgbClr val="0D9488"/>
                </a:solidFill>
              </a:rPr>
              <a:t>2023 proved Verve can grow. 2025 is about making that growth sustainable.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914400" y="1097280"/>
            <a:ext cx="7315200" cy="109728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p:nvPr/>
        </p:nvSpPr>
        <p:spPr>
          <a:xfrm>
            <a:off x="914400" y="2286000"/>
            <a:ext cx="7315200" cy="457200"/>
          </a:xfrm>
          <a:prstGeom prst="rect">
            <a:avLst/>
          </a:prstGeom>
          <a:noFill/>
          <a:ln/>
        </p:spPr>
        <p:txBody>
          <a:bodyPr wrap="square" lIns="0" tIns="0" rIns="0" bIns="0" rtlCol="0" anchor="ctr"/>
          <a:lstStyle/>
          <a:p>
            <a:pPr marL="0" indent="0" algn="ctr">
              <a:buNone/>
            </a:pPr>
            <a:r>
              <a:rPr lang="en-US" sz="1800" dirty="0">
                <a:solidFill>
                  <a:srgbClr val="CADCFC"/>
                </a:solidFill>
              </a:rPr>
              <a:t>Questions &amp; Discussion</a:t>
            </a:r>
            <a:endParaRPr lang="en-US" sz="1800" dirty="0"/>
          </a:p>
        </p:txBody>
      </p:sp>
      <p:sp>
        <p:nvSpPr>
          <p:cNvPr id="4" name="Shape 2"/>
          <p:cNvSpPr/>
          <p:nvPr/>
        </p:nvSpPr>
        <p:spPr>
          <a:xfrm>
            <a:off x="3200400" y="2834640"/>
            <a:ext cx="2743200" cy="0"/>
          </a:xfrm>
          <a:prstGeom prst="line">
            <a:avLst/>
          </a:prstGeom>
          <a:noFill/>
          <a:ln w="25400">
            <a:solidFill>
              <a:srgbClr val="0D9488"/>
            </a:solidFill>
            <a:prstDash val="solid"/>
          </a:ln>
        </p:spPr>
        <p:txBody>
          <a:bodyPr/>
          <a:lstStyle/>
          <a:p>
            <a:endParaRPr lang="en-AE"/>
          </a:p>
        </p:txBody>
      </p:sp>
      <p:sp>
        <p:nvSpPr>
          <p:cNvPr id="5" name="Text 3"/>
          <p:cNvSpPr/>
          <p:nvPr/>
        </p:nvSpPr>
        <p:spPr>
          <a:xfrm>
            <a:off x="1371600" y="3200400"/>
            <a:ext cx="6400800" cy="320040"/>
          </a:xfrm>
          <a:prstGeom prst="rect">
            <a:avLst/>
          </a:prstGeom>
          <a:noFill/>
          <a:ln/>
        </p:spPr>
        <p:txBody>
          <a:bodyPr wrap="square" lIns="0" tIns="0" rIns="0" bIns="0" rtlCol="0" anchor="ctr"/>
          <a:lstStyle/>
          <a:p>
            <a:pPr marL="0" indent="0" algn="ctr">
              <a:buNone/>
            </a:pPr>
            <a:r>
              <a:rPr lang="en-US" sz="1100" dirty="0">
                <a:solidFill>
                  <a:srgbClr val="CADCFC"/>
                </a:solidFill>
              </a:rPr>
              <a:t>📊 Data Coverage:  January 2022 – December 2024</a:t>
            </a:r>
            <a:endParaRPr lang="en-US" sz="1100" dirty="0"/>
          </a:p>
        </p:txBody>
      </p:sp>
      <p:sp>
        <p:nvSpPr>
          <p:cNvPr id="6" name="Text 4"/>
          <p:cNvSpPr/>
          <p:nvPr/>
        </p:nvSpPr>
        <p:spPr>
          <a:xfrm>
            <a:off x="1371600" y="3584448"/>
            <a:ext cx="6400800" cy="320040"/>
          </a:xfrm>
          <a:prstGeom prst="rect">
            <a:avLst/>
          </a:prstGeom>
          <a:noFill/>
          <a:ln/>
        </p:spPr>
        <p:txBody>
          <a:bodyPr wrap="square" lIns="0" tIns="0" rIns="0" bIns="0" rtlCol="0" anchor="ctr"/>
          <a:lstStyle/>
          <a:p>
            <a:pPr marL="0" indent="0" algn="ctr">
              <a:buNone/>
            </a:pPr>
            <a:r>
              <a:rPr lang="en-US" sz="1100" dirty="0">
                <a:solidFill>
                  <a:srgbClr val="CADCFC"/>
                </a:solidFill>
              </a:rPr>
              <a:t>🔧 Tools Used:  Excel · MySQL · Power BI</a:t>
            </a:r>
            <a:endParaRPr lang="en-US" sz="1100" dirty="0"/>
          </a:p>
        </p:txBody>
      </p:sp>
      <p:sp>
        <p:nvSpPr>
          <p:cNvPr id="7" name="Text 5"/>
          <p:cNvSpPr/>
          <p:nvPr/>
        </p:nvSpPr>
        <p:spPr>
          <a:xfrm>
            <a:off x="1371600" y="3968496"/>
            <a:ext cx="6400800" cy="320040"/>
          </a:xfrm>
          <a:prstGeom prst="rect">
            <a:avLst/>
          </a:prstGeom>
          <a:noFill/>
          <a:ln/>
        </p:spPr>
        <p:txBody>
          <a:bodyPr wrap="square" lIns="0" tIns="0" rIns="0" bIns="0" rtlCol="0" anchor="ctr"/>
          <a:lstStyle/>
          <a:p>
            <a:pPr marL="0" indent="0" algn="ctr">
              <a:buNone/>
            </a:pPr>
            <a:r>
              <a:rPr lang="en-US" sz="1100" dirty="0">
                <a:solidFill>
                  <a:srgbClr val="CADCFC"/>
                </a:solidFill>
              </a:rPr>
              <a:t>📁 Reports:  4 detailed reports available for reference</a:t>
            </a:r>
            <a:endParaRPr lang="en-US" sz="1100" dirty="0"/>
          </a:p>
        </p:txBody>
      </p:sp>
      <p:sp>
        <p:nvSpPr>
          <p:cNvPr id="8" name="Text 6"/>
          <p:cNvSpPr/>
          <p:nvPr/>
        </p:nvSpPr>
        <p:spPr>
          <a:xfrm>
            <a:off x="1371600" y="4352544"/>
            <a:ext cx="6400800" cy="320040"/>
          </a:xfrm>
          <a:prstGeom prst="rect">
            <a:avLst/>
          </a:prstGeom>
          <a:noFill/>
          <a:ln/>
        </p:spPr>
        <p:txBody>
          <a:bodyPr wrap="square" lIns="0" tIns="0" rIns="0" bIns="0" rtlCol="0" anchor="ctr"/>
          <a:lstStyle/>
          <a:p>
            <a:pPr marL="0" indent="0" algn="ctr">
              <a:buNone/>
            </a:pPr>
            <a:r>
              <a:rPr lang="en-US" sz="1100" dirty="0">
                <a:solidFill>
                  <a:srgbClr val="CADCFC"/>
                </a:solidFill>
              </a:rPr>
              <a:t>🏢 Company:  Verve Retail Co. (fictional — educational project)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1852</Words>
  <Application>Microsoft Office PowerPoint</Application>
  <PresentationFormat>On-screen Show (16:9)</PresentationFormat>
  <Paragraphs>262</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Verve Retail Analytics 2022-2024 - Executive Presentation</dc:title>
  <dc:subject>PptxGenJS Presentation</dc:subject>
  <dc:creator>PptxGenJS</dc:creator>
  <cp:lastModifiedBy>Alvin Fernandes</cp:lastModifiedBy>
  <cp:revision>1</cp:revision>
  <dcterms:created xsi:type="dcterms:W3CDTF">2026-06-25T05:14:27Z</dcterms:created>
  <dcterms:modified xsi:type="dcterms:W3CDTF">2026-08-19T10:28:45Z</dcterms:modified>
</cp:coreProperties>
</file>